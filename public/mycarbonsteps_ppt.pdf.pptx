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6"/>
  </p:notesMasterIdLst>
  <p:sldIdLst>
    <p:sldId id="301" r:id="rId3"/>
    <p:sldId id="257" r:id="rId4"/>
    <p:sldId id="308" r:id="rId5"/>
    <p:sldId id="303" r:id="rId6"/>
    <p:sldId id="302" r:id="rId7"/>
    <p:sldId id="300" r:id="rId8"/>
    <p:sldId id="266" r:id="rId9"/>
    <p:sldId id="268" r:id="rId10"/>
    <p:sldId id="299" r:id="rId11"/>
    <p:sldId id="318" r:id="rId12"/>
    <p:sldId id="319" r:id="rId13"/>
    <p:sldId id="311" r:id="rId14"/>
    <p:sldId id="320" r:id="rId15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8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BAFDA4-2E59-46ED-87E3-647EDAEC6560}" type="datetimeFigureOut">
              <a:rPr lang="id-ID" smtClean="0"/>
              <a:t>25/08/2026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E28592-6C48-46F7-A4E5-42374336C6F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35389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81c11f77f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" name="Google Shape;97;g3681c11f7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681c11f77f_0_2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9" name="Google Shape;199;g3681c11f77f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83ec29931_0_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9" name="Google Shape;219;g3683ec29931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FAD05-8D3B-6B9A-AE1A-6393AB764E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0D5160-5043-BF30-BDB5-97CF65E6A8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4A81F-C933-5AB8-3670-5E5E45287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7CA96-16E2-425F-A7A5-ADDCF4359560}" type="datetimeFigureOut">
              <a:rPr lang="id-ID" smtClean="0"/>
              <a:t>25/08/2026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A639D-AC70-89F3-4AC0-37F6ED1E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D3DC7-47E8-8E3B-FFBA-B17EC9498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AE6A4-A86B-410D-9364-24417840261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45306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BA9C6-A719-AE31-617E-563EF2538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37904-883C-0EF2-6526-FE9712A75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C5AF4-9202-2123-72F9-BE696E578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7CA96-16E2-425F-A7A5-ADDCF4359560}" type="datetimeFigureOut">
              <a:rPr lang="id-ID" smtClean="0"/>
              <a:t>25/08/2026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284AD-1C5A-713E-3757-EE278DB7D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B69FA-232D-4134-1579-2387CE4EC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AE6A4-A86B-410D-9364-24417840261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24417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AB727-8BC9-6C2F-E2B2-05A0F31E3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B0F1B-61A0-3DC1-F417-B42AF4EF8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704AC-703F-1A63-04E7-10BA3912F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7CA96-16E2-425F-A7A5-ADDCF4359560}" type="datetimeFigureOut">
              <a:rPr lang="id-ID" smtClean="0"/>
              <a:t>25/08/2026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4A674-86A1-0D9A-524D-EC98F08D8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ADA36-F8DF-12A0-9715-0E6E518A0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AE6A4-A86B-410D-9364-24417840261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63167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43361-2E48-CE85-B981-5B21F4229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0E095-89F4-E3B1-9FAA-920E5F516C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858724-D3EA-C367-5317-2A4AA9C857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366176-7179-FDBA-0458-A6280EBD3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7CA96-16E2-425F-A7A5-ADDCF4359560}" type="datetimeFigureOut">
              <a:rPr lang="id-ID" smtClean="0"/>
              <a:t>25/08/2026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E35622-322C-6B92-0157-8B9B773FC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3515C1-98CC-302F-9A27-43FA06BA0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AE6A4-A86B-410D-9364-24417840261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89645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A0FB4-EFAD-43DE-F43A-51BAB4FBF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EECA3-E395-FF24-E778-E5A0099B9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3912A1-A5DA-8834-0F3A-D48A8BD9A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A4256E-456A-A069-D460-C7A7A6882C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B7F6CB-40E6-ECFA-1DDA-53FF711907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986C57-D408-1292-F892-53F3A1624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7CA96-16E2-425F-A7A5-ADDCF4359560}" type="datetimeFigureOut">
              <a:rPr lang="id-ID" smtClean="0"/>
              <a:t>25/08/2026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DACADE-0F04-8517-D1A9-76CD581F2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FFAF30-ECFA-CD5C-7108-985C3602E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AE6A4-A86B-410D-9364-24417840261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00376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C5522-53FA-BB16-6454-2BBB20DE1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686FF5-D161-4F9A-75A5-40E28614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7CA96-16E2-425F-A7A5-ADDCF4359560}" type="datetimeFigureOut">
              <a:rPr lang="id-ID" smtClean="0"/>
              <a:t>25/08/2026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76E892-015E-6D3E-80B7-486032F61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D56C14-F67F-1A39-0460-E49D50A16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AE6A4-A86B-410D-9364-24417840261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37448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2A1A8E-B6DB-2076-F964-FCAAA80C1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7CA96-16E2-425F-A7A5-ADDCF4359560}" type="datetimeFigureOut">
              <a:rPr lang="id-ID" smtClean="0"/>
              <a:t>25/08/2026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371A60-A99B-CE66-5808-0F5F5BDD1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8BA08-EE8A-0C83-463F-1B589627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AE6A4-A86B-410D-9364-24417840261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74864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03F89-BD21-2F28-AAFE-EAA80EA40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921FA-8E15-68BE-67C4-783498814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37C257-32E8-C3FB-9C7D-6655433DE2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E332F2-7D14-7081-1484-0C26456BE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7CA96-16E2-425F-A7A5-ADDCF4359560}" type="datetimeFigureOut">
              <a:rPr lang="id-ID" smtClean="0"/>
              <a:t>25/08/2026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070089-9FFB-7CD4-A56A-AB1E0B71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A6C45F-6FF0-6662-1111-22F7A5100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AE6A4-A86B-410D-9364-24417840261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96840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8718F-7451-C275-CE1B-200507F03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8087B8-315D-FCF6-0431-32D58FD949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A1ED26-C786-B793-490F-8B0477D3B3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75FD0-0B2D-A297-A704-B60D17655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7CA96-16E2-425F-A7A5-ADDCF4359560}" type="datetimeFigureOut">
              <a:rPr lang="id-ID" smtClean="0"/>
              <a:t>25/08/2026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6D831C-BDB0-67C5-4B32-0FCD0CF46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231B1-6EDE-A93F-DD44-31956AC1A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AE6A4-A86B-410D-9364-24417840261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8696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0A68E-B21E-F812-5964-ED4A6B067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64C85F-4B97-05E4-8BAF-FAF4ABD44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F99A6-EC0C-C54D-BCE9-6E74D6E8A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7CA96-16E2-425F-A7A5-ADDCF4359560}" type="datetimeFigureOut">
              <a:rPr lang="id-ID" smtClean="0"/>
              <a:t>25/08/2026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DD032-C2B4-E4CF-7851-F04E6A0AC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DD1D0-4730-DB15-AE9B-96285B50B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AE6A4-A86B-410D-9364-24417840261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33629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5AEB71-9901-DD80-C3E4-D49B6C4440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80B1F-CBE3-5016-4D74-72B7195439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F5A2E-DFEA-C3C8-2ED7-AD5E84120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7CA96-16E2-425F-A7A5-ADDCF4359560}" type="datetimeFigureOut">
              <a:rPr lang="id-ID" smtClean="0"/>
              <a:t>25/08/2026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389A8-03A6-9209-804F-128528069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136BD-520E-F99E-1BDF-9A652847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AE6A4-A86B-410D-9364-24417840261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12728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52964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73325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09104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35666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384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85345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32355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25512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3637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27535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3094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C22FE-BA63-5A6B-0AA3-F8D945509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9252A-5244-B207-2E10-CB6A58763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D336D-4C3B-A402-267C-EF45A0ABB4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47CA96-16E2-425F-A7A5-ADDCF4359560}" type="datetimeFigureOut">
              <a:rPr lang="id-ID" smtClean="0"/>
              <a:t>25/08/2026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93476-9C2B-3561-673C-E251A8EC54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A7A3D-CB6C-1D29-077F-4F763833EC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0AE6A4-A86B-410D-9364-24417840261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57428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293569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1.svg"/><Relationship Id="rId7" Type="http://schemas.openxmlformats.org/officeDocument/2006/relationships/image" Target="../media/image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87405" y="0"/>
            <a:ext cx="4964215" cy="4738344"/>
            <a:chOff x="0" y="0"/>
            <a:chExt cx="9928430" cy="9476688"/>
          </a:xfrm>
        </p:grpSpPr>
        <p:grpSp>
          <p:nvGrpSpPr>
            <p:cNvPr id="3" name="Group 3"/>
            <p:cNvGrpSpPr>
              <a:grpSpLocks noChangeAspect="1"/>
            </p:cNvGrpSpPr>
            <p:nvPr/>
          </p:nvGrpSpPr>
          <p:grpSpPr>
            <a:xfrm rot="-10800000">
              <a:off x="4326558" y="972766"/>
              <a:ext cx="5601872" cy="8503922"/>
              <a:chOff x="0" y="0"/>
              <a:chExt cx="5601872" cy="8503922"/>
            </a:xfrm>
          </p:grpSpPr>
          <p:sp>
            <p:nvSpPr>
              <p:cNvPr id="4" name="Freeform 4" descr="A black background with green dots and lines  Description automatically generated"/>
              <p:cNvSpPr/>
              <p:nvPr/>
            </p:nvSpPr>
            <p:spPr>
              <a:xfrm flipH="1" flipV="1">
                <a:off x="0" y="0"/>
                <a:ext cx="5601843" cy="8503920"/>
              </a:xfrm>
              <a:custGeom>
                <a:avLst/>
                <a:gdLst/>
                <a:ahLst/>
                <a:cxnLst/>
                <a:rect l="l" t="t" r="r" b="b"/>
                <a:pathLst>
                  <a:path w="5601843" h="8503920">
                    <a:moveTo>
                      <a:pt x="5601843" y="8503920"/>
                    </a:moveTo>
                    <a:lnTo>
                      <a:pt x="0" y="8503920"/>
                    </a:lnTo>
                    <a:lnTo>
                      <a:pt x="0" y="0"/>
                    </a:lnTo>
                    <a:lnTo>
                      <a:pt x="5601843" y="0"/>
                    </a:lnTo>
                    <a:lnTo>
                      <a:pt x="5601843" y="8503920"/>
                    </a:lnTo>
                    <a:close/>
                  </a:path>
                </a:pathLst>
              </a:custGeom>
              <a:blipFill>
                <a:blip r:embed="rId2"/>
                <a:stretch>
                  <a:fillRect t="-50000" r="-100003" b="-43184"/>
                </a:stretch>
              </a:blipFill>
            </p:spPr>
            <p:txBody>
              <a:bodyPr/>
              <a:lstStyle/>
              <a:p>
                <a:endParaRPr lang="id-ID" sz="933"/>
              </a:p>
            </p:txBody>
          </p:sp>
        </p:grpSp>
        <p:grpSp>
          <p:nvGrpSpPr>
            <p:cNvPr id="5" name="Group 5"/>
            <p:cNvGrpSpPr>
              <a:grpSpLocks noChangeAspect="1"/>
            </p:cNvGrpSpPr>
            <p:nvPr/>
          </p:nvGrpSpPr>
          <p:grpSpPr>
            <a:xfrm>
              <a:off x="0" y="0"/>
              <a:ext cx="5842814" cy="8869684"/>
              <a:chOff x="0" y="0"/>
              <a:chExt cx="5842814" cy="8869684"/>
            </a:xfrm>
          </p:grpSpPr>
          <p:sp>
            <p:nvSpPr>
              <p:cNvPr id="6" name="Freeform 6" descr="A black background with green dots and lines  Description automatically generated"/>
              <p:cNvSpPr/>
              <p:nvPr/>
            </p:nvSpPr>
            <p:spPr>
              <a:xfrm>
                <a:off x="0" y="0"/>
                <a:ext cx="5842762" cy="8869680"/>
              </a:xfrm>
              <a:custGeom>
                <a:avLst/>
                <a:gdLst/>
                <a:ahLst/>
                <a:cxnLst/>
                <a:rect l="l" t="t" r="r" b="b"/>
                <a:pathLst>
                  <a:path w="5842762" h="8869680">
                    <a:moveTo>
                      <a:pt x="0" y="0"/>
                    </a:moveTo>
                    <a:lnTo>
                      <a:pt x="5842762" y="0"/>
                    </a:lnTo>
                    <a:lnTo>
                      <a:pt x="5842762" y="8869680"/>
                    </a:lnTo>
                    <a:lnTo>
                      <a:pt x="0" y="88696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t="-50000" r="-100004" b="-43184"/>
                </a:stretch>
              </a:blipFill>
            </p:spPr>
            <p:txBody>
              <a:bodyPr/>
              <a:lstStyle/>
              <a:p>
                <a:endParaRPr lang="id-ID" sz="933"/>
              </a:p>
            </p:txBody>
          </p:sp>
        </p:grpSp>
        <p:grpSp>
          <p:nvGrpSpPr>
            <p:cNvPr id="7" name="Group 7"/>
            <p:cNvGrpSpPr>
              <a:grpSpLocks noChangeAspect="1"/>
            </p:cNvGrpSpPr>
            <p:nvPr/>
          </p:nvGrpSpPr>
          <p:grpSpPr>
            <a:xfrm rot="-10800000">
              <a:off x="4326558" y="972766"/>
              <a:ext cx="5601872" cy="8503922"/>
              <a:chOff x="0" y="0"/>
              <a:chExt cx="5601872" cy="8503922"/>
            </a:xfrm>
          </p:grpSpPr>
          <p:sp>
            <p:nvSpPr>
              <p:cNvPr id="8" name="Freeform 8" descr="A black background with green dots and lines  Description automatically generated"/>
              <p:cNvSpPr/>
              <p:nvPr/>
            </p:nvSpPr>
            <p:spPr>
              <a:xfrm flipH="1" flipV="1">
                <a:off x="0" y="0"/>
                <a:ext cx="5601843" cy="8503920"/>
              </a:xfrm>
              <a:custGeom>
                <a:avLst/>
                <a:gdLst/>
                <a:ahLst/>
                <a:cxnLst/>
                <a:rect l="l" t="t" r="r" b="b"/>
                <a:pathLst>
                  <a:path w="5601843" h="8503920">
                    <a:moveTo>
                      <a:pt x="5601843" y="8503920"/>
                    </a:moveTo>
                    <a:lnTo>
                      <a:pt x="0" y="8503920"/>
                    </a:lnTo>
                    <a:lnTo>
                      <a:pt x="0" y="0"/>
                    </a:lnTo>
                    <a:lnTo>
                      <a:pt x="5601843" y="0"/>
                    </a:lnTo>
                    <a:lnTo>
                      <a:pt x="5601843" y="8503920"/>
                    </a:lnTo>
                    <a:close/>
                  </a:path>
                </a:pathLst>
              </a:custGeom>
              <a:blipFill>
                <a:blip r:embed="rId2"/>
                <a:stretch>
                  <a:fillRect t="-50000" r="-100003" b="-43184"/>
                </a:stretch>
              </a:blipFill>
            </p:spPr>
            <p:txBody>
              <a:bodyPr/>
              <a:lstStyle/>
              <a:p>
                <a:endParaRPr lang="id-ID" sz="933"/>
              </a:p>
            </p:txBody>
          </p:sp>
        </p:grpSp>
        <p:grpSp>
          <p:nvGrpSpPr>
            <p:cNvPr id="9" name="Group 9"/>
            <p:cNvGrpSpPr>
              <a:grpSpLocks noChangeAspect="1"/>
            </p:cNvGrpSpPr>
            <p:nvPr/>
          </p:nvGrpSpPr>
          <p:grpSpPr>
            <a:xfrm>
              <a:off x="0" y="0"/>
              <a:ext cx="5842814" cy="8869684"/>
              <a:chOff x="0" y="0"/>
              <a:chExt cx="5842814" cy="8869684"/>
            </a:xfrm>
          </p:grpSpPr>
          <p:sp>
            <p:nvSpPr>
              <p:cNvPr id="10" name="Freeform 10" descr="A black background with green dots and lines  Description automatically generated"/>
              <p:cNvSpPr/>
              <p:nvPr/>
            </p:nvSpPr>
            <p:spPr>
              <a:xfrm>
                <a:off x="0" y="0"/>
                <a:ext cx="5842762" cy="8869680"/>
              </a:xfrm>
              <a:custGeom>
                <a:avLst/>
                <a:gdLst/>
                <a:ahLst/>
                <a:cxnLst/>
                <a:rect l="l" t="t" r="r" b="b"/>
                <a:pathLst>
                  <a:path w="5842762" h="8869680">
                    <a:moveTo>
                      <a:pt x="0" y="0"/>
                    </a:moveTo>
                    <a:lnTo>
                      <a:pt x="5842762" y="0"/>
                    </a:lnTo>
                    <a:lnTo>
                      <a:pt x="5842762" y="8869680"/>
                    </a:lnTo>
                    <a:lnTo>
                      <a:pt x="0" y="88696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t="-50000" r="-100004" b="-43184"/>
                </a:stretch>
              </a:blipFill>
            </p:spPr>
            <p:txBody>
              <a:bodyPr/>
              <a:lstStyle/>
              <a:p>
                <a:endParaRPr lang="id-ID" sz="933"/>
              </a:p>
            </p:txBody>
          </p:sp>
        </p:grpSp>
      </p:grpSp>
      <p:grpSp>
        <p:nvGrpSpPr>
          <p:cNvPr id="28" name="Group 28"/>
          <p:cNvGrpSpPr/>
          <p:nvPr/>
        </p:nvGrpSpPr>
        <p:grpSpPr>
          <a:xfrm>
            <a:off x="-477793" y="2520923"/>
            <a:ext cx="2921407" cy="4434842"/>
            <a:chOff x="0" y="0"/>
            <a:chExt cx="5842814" cy="8869684"/>
          </a:xfrm>
        </p:grpSpPr>
        <p:grpSp>
          <p:nvGrpSpPr>
            <p:cNvPr id="29" name="Group 29"/>
            <p:cNvGrpSpPr>
              <a:grpSpLocks noChangeAspect="1"/>
            </p:cNvGrpSpPr>
            <p:nvPr/>
          </p:nvGrpSpPr>
          <p:grpSpPr>
            <a:xfrm rot="-10800000">
              <a:off x="0" y="0"/>
              <a:ext cx="5842814" cy="8869684"/>
              <a:chOff x="0" y="0"/>
              <a:chExt cx="5842814" cy="8869684"/>
            </a:xfrm>
          </p:grpSpPr>
          <p:sp>
            <p:nvSpPr>
              <p:cNvPr id="30" name="Freeform 30" descr="A black background with green dots and lines  Description automatically generated"/>
              <p:cNvSpPr/>
              <p:nvPr/>
            </p:nvSpPr>
            <p:spPr>
              <a:xfrm>
                <a:off x="0" y="0"/>
                <a:ext cx="5842762" cy="8869680"/>
              </a:xfrm>
              <a:custGeom>
                <a:avLst/>
                <a:gdLst/>
                <a:ahLst/>
                <a:cxnLst/>
                <a:rect l="l" t="t" r="r" b="b"/>
                <a:pathLst>
                  <a:path w="5842762" h="8869680">
                    <a:moveTo>
                      <a:pt x="0" y="0"/>
                    </a:moveTo>
                    <a:lnTo>
                      <a:pt x="5842762" y="0"/>
                    </a:lnTo>
                    <a:lnTo>
                      <a:pt x="5842762" y="8869680"/>
                    </a:lnTo>
                    <a:lnTo>
                      <a:pt x="0" y="88696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t="-50000" r="-100004" b="-43184"/>
                </a:stretch>
              </a:blipFill>
            </p:spPr>
            <p:txBody>
              <a:bodyPr/>
              <a:lstStyle/>
              <a:p>
                <a:endParaRPr lang="id-ID" sz="933"/>
              </a:p>
            </p:txBody>
          </p:sp>
        </p:grpSp>
        <p:grpSp>
          <p:nvGrpSpPr>
            <p:cNvPr id="31" name="Group 31"/>
            <p:cNvGrpSpPr>
              <a:grpSpLocks noChangeAspect="1"/>
            </p:cNvGrpSpPr>
            <p:nvPr/>
          </p:nvGrpSpPr>
          <p:grpSpPr>
            <a:xfrm rot="-10800000">
              <a:off x="0" y="0"/>
              <a:ext cx="5842814" cy="8869684"/>
              <a:chOff x="0" y="0"/>
              <a:chExt cx="5842814" cy="8869684"/>
            </a:xfrm>
          </p:grpSpPr>
          <p:sp>
            <p:nvSpPr>
              <p:cNvPr id="32" name="Freeform 32" descr="A black background with green dots and lines  Description automatically generated"/>
              <p:cNvSpPr/>
              <p:nvPr/>
            </p:nvSpPr>
            <p:spPr>
              <a:xfrm>
                <a:off x="0" y="0"/>
                <a:ext cx="5842762" cy="8869680"/>
              </a:xfrm>
              <a:custGeom>
                <a:avLst/>
                <a:gdLst/>
                <a:ahLst/>
                <a:cxnLst/>
                <a:rect l="l" t="t" r="r" b="b"/>
                <a:pathLst>
                  <a:path w="5842762" h="8869680">
                    <a:moveTo>
                      <a:pt x="0" y="0"/>
                    </a:moveTo>
                    <a:lnTo>
                      <a:pt x="5842762" y="0"/>
                    </a:lnTo>
                    <a:lnTo>
                      <a:pt x="5842762" y="8869680"/>
                    </a:lnTo>
                    <a:lnTo>
                      <a:pt x="0" y="88696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t="-50000" r="-100004" b="-43184"/>
                </a:stretch>
              </a:blipFill>
            </p:spPr>
            <p:txBody>
              <a:bodyPr/>
              <a:lstStyle/>
              <a:p>
                <a:endParaRPr lang="id-ID" sz="933"/>
              </a:p>
            </p:txBody>
          </p:sp>
        </p:grpSp>
      </p:grpSp>
      <p:sp>
        <p:nvSpPr>
          <p:cNvPr id="33" name="Freeform 33"/>
          <p:cNvSpPr/>
          <p:nvPr/>
        </p:nvSpPr>
        <p:spPr>
          <a:xfrm>
            <a:off x="5119316" y="329932"/>
            <a:ext cx="1681955" cy="439411"/>
          </a:xfrm>
          <a:custGeom>
            <a:avLst/>
            <a:gdLst/>
            <a:ahLst/>
            <a:cxnLst/>
            <a:rect l="l" t="t" r="r" b="b"/>
            <a:pathLst>
              <a:path w="2522933" h="659116">
                <a:moveTo>
                  <a:pt x="0" y="0"/>
                </a:moveTo>
                <a:lnTo>
                  <a:pt x="2522933" y="0"/>
                </a:lnTo>
                <a:lnTo>
                  <a:pt x="2522933" y="659117"/>
                </a:lnTo>
                <a:lnTo>
                  <a:pt x="0" y="6591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sz="933"/>
          </a:p>
        </p:txBody>
      </p:sp>
      <p:sp>
        <p:nvSpPr>
          <p:cNvPr id="35" name="TextBox 35"/>
          <p:cNvSpPr txBox="1"/>
          <p:nvPr/>
        </p:nvSpPr>
        <p:spPr>
          <a:xfrm>
            <a:off x="1342831" y="1633336"/>
            <a:ext cx="9506339" cy="1795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sz="3445" b="1">
                <a:latin typeface="Arial Bold"/>
                <a:ea typeface="Arial Bold"/>
                <a:cs typeface="Arial Bold"/>
                <a:sym typeface="Arial Bold"/>
              </a:rPr>
              <a:t>Empowering Youth Climate Action through Digital Engagement</a:t>
            </a:r>
          </a:p>
          <a:p>
            <a:pPr algn="ctr">
              <a:lnSpc>
                <a:spcPts val="3283"/>
              </a:lnSpc>
              <a:spcBef>
                <a:spcPct val="0"/>
              </a:spcBef>
            </a:pPr>
            <a:r>
              <a:rPr lang="en-US" sz="3039"/>
              <a:t>Integrating Climate Resilience into Community-Based Learning and Local Development Planning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6"/>
              <p:cNvSpPr txBox="1"/>
              <p:nvPr/>
            </p:nvSpPr>
            <p:spPr>
              <a:xfrm>
                <a:off x="1342831" y="4046448"/>
                <a:ext cx="9688028" cy="94602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303"/>
                  </a:lnSpc>
                  <a:spcBef>
                    <a:spcPct val="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133" b="1" i="0" dirty="0" smtClean="0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  <a:sym typeface="Montserrat Bold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133" b="1" i="0" dirty="0" smtClean="0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  <a:sym typeface="Montserrat Bold"/>
                          </a:rPr>
                          <m:t>I Putu Arisgunarta</m:t>
                        </m:r>
                      </m:e>
                      <m:sup>
                        <m:r>
                          <a:rPr lang="en-US" sz="2133" b="1" i="1">
                            <a:latin typeface="Cambria Math" panose="02040503050406030204" pitchFamily="18" charset="0"/>
                            <a:sym typeface="Montserrat Bold"/>
                          </a:rPr>
                          <m:t>𝟏</m:t>
                        </m:r>
                        <m:r>
                          <a:rPr lang="en-US" sz="2133" b="1" i="1">
                            <a:latin typeface="Cambria Math" panose="02040503050406030204" pitchFamily="18" charset="0"/>
                            <a:sym typeface="Montserrat Bold"/>
                          </a:rPr>
                          <m:t>.</m:t>
                        </m:r>
                        <m:r>
                          <a:rPr lang="en-US" sz="2133" b="1" i="1" smtClean="0">
                            <a:latin typeface="Cambria Math" panose="02040503050406030204" pitchFamily="18" charset="0"/>
                            <a:sym typeface="Montserrat Bold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2133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Montserrat Bold"/>
                  </a:rPr>
                  <a:t>, </a:t>
                </a:r>
              </a:p>
              <a:p>
                <a:pPr algn="ctr">
                  <a:lnSpc>
                    <a:spcPts val="2303"/>
                  </a:lnSpc>
                  <a:spcBef>
                    <a:spcPct val="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133" b="1" dirty="0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  <a:sym typeface="Montserrat Bold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133" b="1" dirty="0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  <a:sym typeface="Montserrat Bold"/>
                          </a:rPr>
                          <m:t>Arrozaq Ave</m:t>
                        </m:r>
                      </m:e>
                      <m:sup>
                        <m:r>
                          <a:rPr lang="en-US" sz="2133" b="1" i="1">
                            <a:latin typeface="Cambria Math" panose="02040503050406030204" pitchFamily="18" charset="0"/>
                            <a:sym typeface="Montserrat Bold"/>
                          </a:rPr>
                          <m:t>𝟏</m:t>
                        </m:r>
                        <m:r>
                          <a:rPr lang="en-US" sz="2133" b="1" i="1">
                            <a:latin typeface="Cambria Math" panose="02040503050406030204" pitchFamily="18" charset="0"/>
                            <a:sym typeface="Montserrat Bold"/>
                          </a:rPr>
                          <m:t>.</m:t>
                        </m:r>
                        <m:r>
                          <a:rPr lang="en-US" sz="2133" b="1" i="1" smtClean="0">
                            <a:latin typeface="Cambria Math" panose="02040503050406030204" pitchFamily="18" charset="0"/>
                            <a:sym typeface="Montserrat Bold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133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Montserrat Bold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33" b="1" dirty="0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  <a:sym typeface="Montserrat Bold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133" b="1" dirty="0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  <a:sym typeface="Montserrat Bold"/>
                          </a:rPr>
                          <m:t>Nasya Augusta</m:t>
                        </m:r>
                      </m:e>
                      <m:sup>
                        <m:r>
                          <a:rPr lang="en-US" sz="2133" b="1" i="1">
                            <a:latin typeface="Cambria Math" panose="02040503050406030204" pitchFamily="18" charset="0"/>
                            <a:sym typeface="Montserrat Bold"/>
                          </a:rPr>
                          <m:t>𝟏</m:t>
                        </m:r>
                        <m:r>
                          <a:rPr lang="en-US" sz="2133" b="1" i="1">
                            <a:latin typeface="Cambria Math" panose="02040503050406030204" pitchFamily="18" charset="0"/>
                            <a:sym typeface="Montserrat Bold"/>
                          </a:rPr>
                          <m:t>.</m:t>
                        </m:r>
                        <m:r>
                          <a:rPr lang="en-US" sz="2133" b="1" i="1" smtClean="0">
                            <a:latin typeface="Cambria Math" panose="02040503050406030204" pitchFamily="18" charset="0"/>
                            <a:sym typeface="Montserrat Bold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n-US" sz="2133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Montserrat Bold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33" b="1" dirty="0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  <a:sym typeface="Montserrat Bold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133" b="1" dirty="0"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  <a:sym typeface="Montserrat Bold"/>
                          </a:rPr>
                          <m:t>Qory Salsabilla</m:t>
                        </m:r>
                      </m:e>
                      <m:sup>
                        <m:r>
                          <a:rPr lang="en-US" sz="2133" b="1" i="1">
                            <a:latin typeface="Cambria Math" panose="02040503050406030204" pitchFamily="18" charset="0"/>
                            <a:sym typeface="Montserrat Bold"/>
                          </a:rPr>
                          <m:t>𝟏</m:t>
                        </m:r>
                        <m:r>
                          <a:rPr lang="en-US" sz="2133" b="1" i="1">
                            <a:latin typeface="Cambria Math" panose="02040503050406030204" pitchFamily="18" charset="0"/>
                            <a:sym typeface="Montserrat Bold"/>
                          </a:rPr>
                          <m:t>.</m:t>
                        </m:r>
                        <m:r>
                          <a:rPr lang="en-US" sz="2133" b="1" i="1" smtClean="0">
                            <a:latin typeface="Cambria Math" panose="02040503050406030204" pitchFamily="18" charset="0"/>
                            <a:sym typeface="Montserrat Bold"/>
                          </a:rPr>
                          <m:t>𝟓</m:t>
                        </m:r>
                      </m:sup>
                    </m:sSup>
                    <m:r>
                      <a:rPr lang="en-US" sz="2133" b="1" i="1" smtClean="0">
                        <a:latin typeface="Cambria Math" panose="02040503050406030204" pitchFamily="18" charset="0"/>
                        <a:sym typeface="Montserrat Bold"/>
                      </a:rPr>
                      <m:t>,</m:t>
                    </m:r>
                  </m:oMath>
                </a14:m>
                <a:r>
                  <a:rPr lang="en-US" sz="2133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Montserrat Bold"/>
                  </a:rPr>
                  <a:t> </a:t>
                </a:r>
              </a:p>
              <a:p>
                <a:pPr algn="ctr">
                  <a:lnSpc>
                    <a:spcPts val="2952"/>
                  </a:lnSpc>
                  <a:spcBef>
                    <a:spcPct val="0"/>
                  </a:spcBef>
                </a:pPr>
                <a:endParaRPr lang="en-US" sz="2133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Montserrat Bold"/>
                </a:endParaRPr>
              </a:p>
            </p:txBody>
          </p:sp>
        </mc:Choice>
        <mc:Fallback>
          <p:sp>
            <p:nvSpPr>
              <p:cNvPr id="36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2831" y="4046448"/>
                <a:ext cx="9688028" cy="946028"/>
              </a:xfrm>
              <a:prstGeom prst="rect">
                <a:avLst/>
              </a:prstGeom>
              <a:blipFill>
                <a:blip r:embed="rId4"/>
                <a:stretch>
                  <a:fillRect t="-129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7"/>
          <p:cNvSpPr txBox="1"/>
          <p:nvPr/>
        </p:nvSpPr>
        <p:spPr>
          <a:xfrm>
            <a:off x="1127923" y="5036033"/>
            <a:ext cx="10117844" cy="1436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en-US" sz="1333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¹MyCarbonSteps, Bogor, Indonesia</a:t>
            </a:r>
          </a:p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en-US" sz="1333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²Coordinating Ministry for Economic Affairs of the Republic of Indonesia, Indonesia</a:t>
            </a:r>
          </a:p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en-US" sz="1333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³Department of Applied Climatology, Faculty of Mathematics and Natural Sciences, Graduate School, IPB University, Bogor, Indonesia</a:t>
            </a:r>
          </a:p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en-US" sz="1333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⁴Department of Digital Business, Faculty of Economics and Business Education, Universitas Pendidikan Indonesia, Bandung, Indonesia</a:t>
            </a:r>
          </a:p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en-US" sz="1333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⁵Department of Sociology, Faculty of Social Sciences and Law, Universitas Negeri Jakarta, Jakarta, Indonesia</a:t>
            </a:r>
          </a:p>
          <a:p>
            <a:pPr algn="ctr">
              <a:lnSpc>
                <a:spcPts val="1440"/>
              </a:lnSpc>
              <a:spcBef>
                <a:spcPct val="0"/>
              </a:spcBef>
            </a:pPr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8" name="Google Shape;105;g3681c11f77f_0_51" title="Poster (4).png">
            <a:extLst>
              <a:ext uri="{FF2B5EF4-FFF2-40B4-BE49-F238E27FC236}">
                <a16:creationId xmlns:a16="http://schemas.microsoft.com/office/drawing/2014/main" id="{8A0CD701-A7BE-F11D-058C-FAD625CD17B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25167" y="285917"/>
            <a:ext cx="4350900" cy="48417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20" name="Group 26">
            <a:extLst>
              <a:ext uri="{FF2B5EF4-FFF2-40B4-BE49-F238E27FC236}">
                <a16:creationId xmlns:a16="http://schemas.microsoft.com/office/drawing/2014/main" id="{331B1004-72BD-DF71-415B-79EB24937033}"/>
              </a:ext>
            </a:extLst>
          </p:cNvPr>
          <p:cNvGrpSpPr>
            <a:grpSpLocks noChangeAspect="1"/>
          </p:cNvGrpSpPr>
          <p:nvPr/>
        </p:nvGrpSpPr>
        <p:grpSpPr>
          <a:xfrm>
            <a:off x="574386" y="373976"/>
            <a:ext cx="2502089" cy="351321"/>
            <a:chOff x="0" y="0"/>
            <a:chExt cx="7739614" cy="1086727"/>
          </a:xfrm>
        </p:grpSpPr>
        <p:sp>
          <p:nvSpPr>
            <p:cNvPr id="21" name="Freeform 27">
              <a:extLst>
                <a:ext uri="{FF2B5EF4-FFF2-40B4-BE49-F238E27FC236}">
                  <a16:creationId xmlns:a16="http://schemas.microsoft.com/office/drawing/2014/main" id="{369458E8-244E-C883-816F-3B186DAC0121}"/>
                </a:ext>
              </a:extLst>
            </p:cNvPr>
            <p:cNvSpPr/>
            <p:nvPr/>
          </p:nvSpPr>
          <p:spPr>
            <a:xfrm>
              <a:off x="0" y="0"/>
              <a:ext cx="7739634" cy="1086739"/>
            </a:xfrm>
            <a:custGeom>
              <a:avLst/>
              <a:gdLst/>
              <a:ahLst/>
              <a:cxnLst/>
              <a:rect l="l" t="t" r="r" b="b"/>
              <a:pathLst>
                <a:path w="7739634" h="1086739">
                  <a:moveTo>
                    <a:pt x="0" y="0"/>
                  </a:moveTo>
                  <a:lnTo>
                    <a:pt x="7739634" y="0"/>
                  </a:lnTo>
                  <a:lnTo>
                    <a:pt x="7739634" y="1086739"/>
                  </a:lnTo>
                  <a:lnTo>
                    <a:pt x="0" y="108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86" b="-285"/>
              </a:stretch>
            </a:blipFill>
          </p:spPr>
          <p:txBody>
            <a:bodyPr/>
            <a:lstStyle/>
            <a:p>
              <a:endParaRPr lang="id-ID" sz="933"/>
            </a:p>
          </p:txBody>
        </p:sp>
      </p:grpSp>
      <p:grpSp>
        <p:nvGrpSpPr>
          <p:cNvPr id="22" name="Group 17">
            <a:extLst>
              <a:ext uri="{FF2B5EF4-FFF2-40B4-BE49-F238E27FC236}">
                <a16:creationId xmlns:a16="http://schemas.microsoft.com/office/drawing/2014/main" id="{2693D1D0-DA9F-0FAD-B950-0BC26E6C27BD}"/>
              </a:ext>
            </a:extLst>
          </p:cNvPr>
          <p:cNvGrpSpPr/>
          <p:nvPr/>
        </p:nvGrpSpPr>
        <p:grpSpPr>
          <a:xfrm>
            <a:off x="3438752" y="228600"/>
            <a:ext cx="1248479" cy="553188"/>
            <a:chOff x="0" y="0"/>
            <a:chExt cx="2496956" cy="1106325"/>
          </a:xfrm>
        </p:grpSpPr>
        <p:grpSp>
          <p:nvGrpSpPr>
            <p:cNvPr id="23" name="Group 18">
              <a:extLst>
                <a:ext uri="{FF2B5EF4-FFF2-40B4-BE49-F238E27FC236}">
                  <a16:creationId xmlns:a16="http://schemas.microsoft.com/office/drawing/2014/main" id="{2E781D6A-78A0-67BA-2879-F7F8CC55D3B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01" y="11413"/>
              <a:ext cx="2445987" cy="1083742"/>
              <a:chOff x="0" y="0"/>
              <a:chExt cx="7712964" cy="3417378"/>
            </a:xfrm>
          </p:grpSpPr>
          <p:sp>
            <p:nvSpPr>
              <p:cNvPr id="40" name="Freeform 19" descr="A black and white sign with a couple of heads  Description automatically generated">
                <a:extLst>
                  <a:ext uri="{FF2B5EF4-FFF2-40B4-BE49-F238E27FC236}">
                    <a16:creationId xmlns:a16="http://schemas.microsoft.com/office/drawing/2014/main" id="{3367D74A-B79F-D91A-ACF7-17C201F984BC}"/>
                  </a:ext>
                </a:extLst>
              </p:cNvPr>
              <p:cNvSpPr/>
              <p:nvPr/>
            </p:nvSpPr>
            <p:spPr>
              <a:xfrm>
                <a:off x="0" y="0"/>
                <a:ext cx="7712964" cy="3417316"/>
              </a:xfrm>
              <a:custGeom>
                <a:avLst/>
                <a:gdLst/>
                <a:ahLst/>
                <a:cxnLst/>
                <a:rect l="l" t="t" r="r" b="b"/>
                <a:pathLst>
                  <a:path w="7712964" h="3417316">
                    <a:moveTo>
                      <a:pt x="0" y="0"/>
                    </a:moveTo>
                    <a:lnTo>
                      <a:pt x="7712964" y="0"/>
                    </a:lnTo>
                    <a:lnTo>
                      <a:pt x="7712964" y="3417316"/>
                    </a:lnTo>
                    <a:lnTo>
                      <a:pt x="0" y="341731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t="-162" b="-164"/>
                </a:stretch>
              </a:blipFill>
            </p:spPr>
            <p:txBody>
              <a:bodyPr/>
              <a:lstStyle/>
              <a:p>
                <a:endParaRPr lang="id-ID" sz="933"/>
              </a:p>
            </p:txBody>
          </p:sp>
        </p:grpSp>
        <p:grpSp>
          <p:nvGrpSpPr>
            <p:cNvPr id="24" name="Group 20">
              <a:extLst>
                <a:ext uri="{FF2B5EF4-FFF2-40B4-BE49-F238E27FC236}">
                  <a16:creationId xmlns:a16="http://schemas.microsoft.com/office/drawing/2014/main" id="{60CFDF87-E477-382B-8205-F60BDF2E066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2496956" cy="1106325"/>
              <a:chOff x="0" y="0"/>
              <a:chExt cx="7873686" cy="3488591"/>
            </a:xfrm>
          </p:grpSpPr>
          <p:sp>
            <p:nvSpPr>
              <p:cNvPr id="39" name="Freeform 21" descr="A black and green sign with a couple of heads  Description automatically generated">
                <a:extLst>
                  <a:ext uri="{FF2B5EF4-FFF2-40B4-BE49-F238E27FC236}">
                    <a16:creationId xmlns:a16="http://schemas.microsoft.com/office/drawing/2014/main" id="{C988C051-2CF6-8A21-5AD2-A296ECF1AE84}"/>
                  </a:ext>
                </a:extLst>
              </p:cNvPr>
              <p:cNvSpPr/>
              <p:nvPr/>
            </p:nvSpPr>
            <p:spPr>
              <a:xfrm>
                <a:off x="0" y="0"/>
                <a:ext cx="7873746" cy="3488563"/>
              </a:xfrm>
              <a:custGeom>
                <a:avLst/>
                <a:gdLst/>
                <a:ahLst/>
                <a:cxnLst/>
                <a:rect l="l" t="t" r="r" b="b"/>
                <a:pathLst>
                  <a:path w="7873746" h="3488563">
                    <a:moveTo>
                      <a:pt x="0" y="0"/>
                    </a:moveTo>
                    <a:lnTo>
                      <a:pt x="7873746" y="0"/>
                    </a:lnTo>
                    <a:lnTo>
                      <a:pt x="7873746" y="3488563"/>
                    </a:lnTo>
                    <a:lnTo>
                      <a:pt x="0" y="348856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t="-162" b="-163"/>
                </a:stretch>
              </a:blipFill>
            </p:spPr>
            <p:txBody>
              <a:bodyPr/>
              <a:lstStyle/>
              <a:p>
                <a:endParaRPr lang="id-ID" sz="933"/>
              </a:p>
            </p:txBody>
          </p:sp>
        </p:grpSp>
        <p:grpSp>
          <p:nvGrpSpPr>
            <p:cNvPr id="25" name="Group 22">
              <a:extLst>
                <a:ext uri="{FF2B5EF4-FFF2-40B4-BE49-F238E27FC236}">
                  <a16:creationId xmlns:a16="http://schemas.microsoft.com/office/drawing/2014/main" id="{96823B47-21DE-4904-DAAC-5377285DEFC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01" y="11413"/>
              <a:ext cx="2445987" cy="1083742"/>
              <a:chOff x="0" y="0"/>
              <a:chExt cx="7712964" cy="3417378"/>
            </a:xfrm>
          </p:grpSpPr>
          <p:sp>
            <p:nvSpPr>
              <p:cNvPr id="34" name="Freeform 23" descr="A black and white sign with a couple of heads  Description automatically generated">
                <a:extLst>
                  <a:ext uri="{FF2B5EF4-FFF2-40B4-BE49-F238E27FC236}">
                    <a16:creationId xmlns:a16="http://schemas.microsoft.com/office/drawing/2014/main" id="{60819B00-D4B3-9C6D-3AC6-34888AD8B542}"/>
                  </a:ext>
                </a:extLst>
              </p:cNvPr>
              <p:cNvSpPr/>
              <p:nvPr/>
            </p:nvSpPr>
            <p:spPr>
              <a:xfrm>
                <a:off x="0" y="0"/>
                <a:ext cx="7712964" cy="3417316"/>
              </a:xfrm>
              <a:custGeom>
                <a:avLst/>
                <a:gdLst/>
                <a:ahLst/>
                <a:cxnLst/>
                <a:rect l="l" t="t" r="r" b="b"/>
                <a:pathLst>
                  <a:path w="7712964" h="3417316">
                    <a:moveTo>
                      <a:pt x="0" y="0"/>
                    </a:moveTo>
                    <a:lnTo>
                      <a:pt x="7712964" y="0"/>
                    </a:lnTo>
                    <a:lnTo>
                      <a:pt x="7712964" y="3417316"/>
                    </a:lnTo>
                    <a:lnTo>
                      <a:pt x="0" y="341731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t="-162" b="-164"/>
                </a:stretch>
              </a:blipFill>
            </p:spPr>
            <p:txBody>
              <a:bodyPr/>
              <a:lstStyle/>
              <a:p>
                <a:endParaRPr lang="id-ID" sz="933"/>
              </a:p>
            </p:txBody>
          </p:sp>
        </p:grpSp>
        <p:grpSp>
          <p:nvGrpSpPr>
            <p:cNvPr id="26" name="Group 24">
              <a:extLst>
                <a:ext uri="{FF2B5EF4-FFF2-40B4-BE49-F238E27FC236}">
                  <a16:creationId xmlns:a16="http://schemas.microsoft.com/office/drawing/2014/main" id="{96FC4315-C471-9899-55BD-82DC0B4EC6F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2496956" cy="1106325"/>
              <a:chOff x="0" y="0"/>
              <a:chExt cx="7873686" cy="3488591"/>
            </a:xfrm>
          </p:grpSpPr>
          <p:sp>
            <p:nvSpPr>
              <p:cNvPr id="27" name="Freeform 25" descr="A black and green sign with a couple of heads  Description automatically generated">
                <a:extLst>
                  <a:ext uri="{FF2B5EF4-FFF2-40B4-BE49-F238E27FC236}">
                    <a16:creationId xmlns:a16="http://schemas.microsoft.com/office/drawing/2014/main" id="{408E1AA7-E865-4D62-CF64-AC6FF245256D}"/>
                  </a:ext>
                </a:extLst>
              </p:cNvPr>
              <p:cNvSpPr/>
              <p:nvPr/>
            </p:nvSpPr>
            <p:spPr>
              <a:xfrm>
                <a:off x="0" y="0"/>
                <a:ext cx="7873746" cy="3488563"/>
              </a:xfrm>
              <a:custGeom>
                <a:avLst/>
                <a:gdLst/>
                <a:ahLst/>
                <a:cxnLst/>
                <a:rect l="l" t="t" r="r" b="b"/>
                <a:pathLst>
                  <a:path w="7873746" h="3488563">
                    <a:moveTo>
                      <a:pt x="0" y="0"/>
                    </a:moveTo>
                    <a:lnTo>
                      <a:pt x="7873746" y="0"/>
                    </a:lnTo>
                    <a:lnTo>
                      <a:pt x="7873746" y="3488563"/>
                    </a:lnTo>
                    <a:lnTo>
                      <a:pt x="0" y="348856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t="-162" b="-163"/>
                </a:stretch>
              </a:blipFill>
            </p:spPr>
            <p:txBody>
              <a:bodyPr/>
              <a:lstStyle/>
              <a:p>
                <a:endParaRPr lang="id-ID" sz="933"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g3681c11f77f_0_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783" y="400052"/>
            <a:ext cx="4364224" cy="276888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3681c11f77f_0_51"/>
          <p:cNvSpPr txBox="1"/>
          <p:nvPr/>
        </p:nvSpPr>
        <p:spPr>
          <a:xfrm>
            <a:off x="6242123" y="956242"/>
            <a:ext cx="5185637" cy="4616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id-ID" sz="1600" b="1" dirty="0"/>
              <a:t>Climate change</a:t>
            </a:r>
            <a:r>
              <a:rPr lang="id-ID" sz="1600" dirty="0"/>
              <a:t>: a global challenge with tangible impacts across multiple sectors. </a:t>
            </a:r>
            <a:endParaRPr lang="en-US" sz="1600" dirty="0"/>
          </a:p>
          <a:p>
            <a:endParaRPr lang="id-ID" sz="1600" dirty="0"/>
          </a:p>
          <a:p>
            <a:r>
              <a:rPr lang="id-ID" sz="1600" b="1" dirty="0"/>
              <a:t>High carbon emissions</a:t>
            </a:r>
            <a:r>
              <a:rPr lang="id-ID" sz="1600" dirty="0"/>
              <a:t>: driven by human activities, highlighting the urgent need for both mitigation and adaptation. </a:t>
            </a:r>
            <a:endParaRPr lang="en-US" sz="1600" dirty="0"/>
          </a:p>
          <a:p>
            <a:endParaRPr lang="id-ID" sz="1600" dirty="0"/>
          </a:p>
          <a:p>
            <a:r>
              <a:rPr lang="id-ID" sz="1600" b="1" dirty="0"/>
              <a:t>Youth exhibit high levels of digital connectivity</a:t>
            </a:r>
            <a:r>
              <a:rPr lang="id-ID" sz="1600" dirty="0"/>
              <a:t> </a:t>
            </a:r>
            <a:r>
              <a:rPr lang="id-ID" sz="1600" i="1" dirty="0"/>
              <a:t>(BPS, 2023)</a:t>
            </a:r>
            <a:r>
              <a:rPr lang="id-ID" sz="16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1600" dirty="0"/>
              <a:t>94% use the internet.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1600" dirty="0"/>
              <a:t>96% own a smartphone. </a:t>
            </a:r>
            <a:endParaRPr lang="en-US" sz="1600" dirty="0"/>
          </a:p>
          <a:p>
            <a:endParaRPr lang="id-ID" sz="1600" dirty="0"/>
          </a:p>
          <a:p>
            <a:r>
              <a:rPr lang="id-ID" sz="1600" b="1" dirty="0"/>
              <a:t>49.7% of Indonesian adolescents have low climate literacy</a:t>
            </a:r>
            <a:r>
              <a:rPr lang="id-ID" sz="1600" dirty="0"/>
              <a:t> </a:t>
            </a:r>
            <a:r>
              <a:rPr lang="id-ID" sz="1600" i="1" dirty="0"/>
              <a:t>(Martha et al., 2025).</a:t>
            </a:r>
            <a:r>
              <a:rPr lang="id-ID" sz="1600" dirty="0"/>
              <a:t> </a:t>
            </a:r>
            <a:endParaRPr lang="en-US" sz="1600" dirty="0"/>
          </a:p>
          <a:p>
            <a:endParaRPr lang="id-ID" sz="1600" dirty="0"/>
          </a:p>
          <a:p>
            <a:r>
              <a:rPr lang="id-ID" sz="1600" b="1" dirty="0"/>
              <a:t>A persistent gap remains between environmental awareness and climate action</a:t>
            </a:r>
            <a:r>
              <a:rPr lang="id-ID" sz="1600" dirty="0"/>
              <a:t> </a:t>
            </a:r>
            <a:r>
              <a:rPr lang="id-ID" sz="1600" i="1" dirty="0"/>
              <a:t>(Moser, 2016; Chen et al., 2025).</a:t>
            </a:r>
            <a:endParaRPr lang="id-ID" sz="1600" dirty="0"/>
          </a:p>
        </p:txBody>
      </p:sp>
      <p:pic>
        <p:nvPicPr>
          <p:cNvPr id="13" name="Google Shape;118;g3681c11f77f_0_89" title="Poster (4).png">
            <a:extLst>
              <a:ext uri="{FF2B5EF4-FFF2-40B4-BE49-F238E27FC236}">
                <a16:creationId xmlns:a16="http://schemas.microsoft.com/office/drawing/2014/main" id="{CCD5D9C8-DC52-57C7-CFAF-B2C9107657C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55770" y="400052"/>
            <a:ext cx="3650590" cy="37706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" name="Picture 20" descr="A group of people holding signs&#10;&#10;AI-generated content may be incorrect.">
            <a:extLst>
              <a:ext uri="{FF2B5EF4-FFF2-40B4-BE49-F238E27FC236}">
                <a16:creationId xmlns:a16="http://schemas.microsoft.com/office/drawing/2014/main" id="{0ADDDB18-ABF1-2865-0A49-E73044DCE0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4420" y="3223605"/>
            <a:ext cx="2810886" cy="2810886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72EDA179-D7CD-DCD4-F9A8-72B5608FD9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28" r="19074" b="9468"/>
          <a:stretch>
            <a:fillRect/>
          </a:stretch>
        </p:blipFill>
        <p:spPr bwMode="auto">
          <a:xfrm>
            <a:off x="720784" y="3535289"/>
            <a:ext cx="2159618" cy="2308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FC14631-CE71-CA78-9FED-965EF1053DC0}"/>
              </a:ext>
            </a:extLst>
          </p:cNvPr>
          <p:cNvSpPr txBox="1"/>
          <p:nvPr/>
        </p:nvSpPr>
        <p:spPr>
          <a:xfrm>
            <a:off x="827208" y="5743979"/>
            <a:ext cx="4525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https://www.shutterstock.com/image-vector/set-young-characters-phones-teens-260nw-1960376221.jpg</a:t>
            </a:r>
            <a:endParaRPr lang="en-US" sz="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id-ID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https://pngtree.com/freepng/youth-marching-for-climate-action_22303969.html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FAD012-81F1-2BE8-DE5A-CE690BEF4AF0}"/>
              </a:ext>
            </a:extLst>
          </p:cNvPr>
          <p:cNvSpPr txBox="1"/>
          <p:nvPr/>
        </p:nvSpPr>
        <p:spPr>
          <a:xfrm>
            <a:off x="588048" y="358105"/>
            <a:ext cx="75143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1"/>
                </a:solidFill>
                <a:highlight>
                  <a:srgbClr val="FFFF00"/>
                </a:highlight>
                <a:latin typeface="Montserrat" pitchFamily="2" charset="0"/>
              </a:rPr>
              <a:t>The Problem</a:t>
            </a:r>
            <a:endParaRPr lang="id-ID" sz="3600" b="1" dirty="0">
              <a:solidFill>
                <a:schemeClr val="tx1"/>
              </a:solidFill>
              <a:highlight>
                <a:srgbClr val="FFFF00"/>
              </a:highlight>
              <a:latin typeface="Montserrat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F7BC16-4D27-AF6C-499E-F18CC1686A2A}"/>
              </a:ext>
            </a:extLst>
          </p:cNvPr>
          <p:cNvSpPr txBox="1"/>
          <p:nvPr/>
        </p:nvSpPr>
        <p:spPr>
          <a:xfrm>
            <a:off x="6242123" y="5537484"/>
            <a:ext cx="54778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600" dirty="0"/>
              <a:t>Limited evidence exists on how youth-generated content contributes to local development planning.</a:t>
            </a:r>
            <a:r>
              <a:rPr lang="en-US" sz="1600" dirty="0"/>
              <a:t> </a:t>
            </a:r>
            <a:r>
              <a:rPr lang="id-ID" sz="1600" dirty="0"/>
              <a:t>Our study addresses this gap</a:t>
            </a:r>
          </a:p>
        </p:txBody>
      </p:sp>
      <p:grpSp>
        <p:nvGrpSpPr>
          <p:cNvPr id="2" name="Group 17">
            <a:extLst>
              <a:ext uri="{FF2B5EF4-FFF2-40B4-BE49-F238E27FC236}">
                <a16:creationId xmlns:a16="http://schemas.microsoft.com/office/drawing/2014/main" id="{866E41FF-0486-4194-31B8-52DD43E277D6}"/>
              </a:ext>
            </a:extLst>
          </p:cNvPr>
          <p:cNvGrpSpPr/>
          <p:nvPr/>
        </p:nvGrpSpPr>
        <p:grpSpPr>
          <a:xfrm>
            <a:off x="10567120" y="6049651"/>
            <a:ext cx="1248479" cy="553188"/>
            <a:chOff x="0" y="0"/>
            <a:chExt cx="2496956" cy="1106325"/>
          </a:xfrm>
        </p:grpSpPr>
        <p:grpSp>
          <p:nvGrpSpPr>
            <p:cNvPr id="3" name="Group 18">
              <a:extLst>
                <a:ext uri="{FF2B5EF4-FFF2-40B4-BE49-F238E27FC236}">
                  <a16:creationId xmlns:a16="http://schemas.microsoft.com/office/drawing/2014/main" id="{EFA4F90C-E530-5DDC-55BE-157E8D3E095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01" y="11413"/>
              <a:ext cx="2445987" cy="1083742"/>
              <a:chOff x="0" y="0"/>
              <a:chExt cx="7712964" cy="3417378"/>
            </a:xfrm>
          </p:grpSpPr>
          <p:sp>
            <p:nvSpPr>
              <p:cNvPr id="10" name="Freeform 19" descr="A black and white sign with a couple of heads  Description automatically generated">
                <a:extLst>
                  <a:ext uri="{FF2B5EF4-FFF2-40B4-BE49-F238E27FC236}">
                    <a16:creationId xmlns:a16="http://schemas.microsoft.com/office/drawing/2014/main" id="{209B9DE9-AEAA-F53F-06D1-4411263BBCD2}"/>
                  </a:ext>
                </a:extLst>
              </p:cNvPr>
              <p:cNvSpPr/>
              <p:nvPr/>
            </p:nvSpPr>
            <p:spPr>
              <a:xfrm>
                <a:off x="0" y="0"/>
                <a:ext cx="7712964" cy="3417316"/>
              </a:xfrm>
              <a:custGeom>
                <a:avLst/>
                <a:gdLst/>
                <a:ahLst/>
                <a:cxnLst/>
                <a:rect l="l" t="t" r="r" b="b"/>
                <a:pathLst>
                  <a:path w="7712964" h="3417316">
                    <a:moveTo>
                      <a:pt x="0" y="0"/>
                    </a:moveTo>
                    <a:lnTo>
                      <a:pt x="7712964" y="0"/>
                    </a:lnTo>
                    <a:lnTo>
                      <a:pt x="7712964" y="3417316"/>
                    </a:lnTo>
                    <a:lnTo>
                      <a:pt x="0" y="341731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t="-162" b="-164"/>
                </a:stretch>
              </a:blipFill>
            </p:spPr>
            <p:txBody>
              <a:bodyPr/>
              <a:lstStyle/>
              <a:p>
                <a:endParaRPr lang="id-ID" sz="933"/>
              </a:p>
            </p:txBody>
          </p:sp>
        </p:grpSp>
        <p:grpSp>
          <p:nvGrpSpPr>
            <p:cNvPr id="4" name="Group 20">
              <a:extLst>
                <a:ext uri="{FF2B5EF4-FFF2-40B4-BE49-F238E27FC236}">
                  <a16:creationId xmlns:a16="http://schemas.microsoft.com/office/drawing/2014/main" id="{C0546BCE-6EF9-BC04-C85F-EDA28DBCA97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2496956" cy="1106325"/>
              <a:chOff x="0" y="0"/>
              <a:chExt cx="7873686" cy="3488591"/>
            </a:xfrm>
          </p:grpSpPr>
          <p:sp>
            <p:nvSpPr>
              <p:cNvPr id="9" name="Freeform 21" descr="A black and green sign with a couple of heads  Description automatically generated">
                <a:extLst>
                  <a:ext uri="{FF2B5EF4-FFF2-40B4-BE49-F238E27FC236}">
                    <a16:creationId xmlns:a16="http://schemas.microsoft.com/office/drawing/2014/main" id="{1FCBFBC7-AE7F-1265-CAA8-7469F4043769}"/>
                  </a:ext>
                </a:extLst>
              </p:cNvPr>
              <p:cNvSpPr/>
              <p:nvPr/>
            </p:nvSpPr>
            <p:spPr>
              <a:xfrm>
                <a:off x="0" y="0"/>
                <a:ext cx="7873746" cy="3488563"/>
              </a:xfrm>
              <a:custGeom>
                <a:avLst/>
                <a:gdLst/>
                <a:ahLst/>
                <a:cxnLst/>
                <a:rect l="l" t="t" r="r" b="b"/>
                <a:pathLst>
                  <a:path w="7873746" h="3488563">
                    <a:moveTo>
                      <a:pt x="0" y="0"/>
                    </a:moveTo>
                    <a:lnTo>
                      <a:pt x="7873746" y="0"/>
                    </a:lnTo>
                    <a:lnTo>
                      <a:pt x="7873746" y="3488563"/>
                    </a:lnTo>
                    <a:lnTo>
                      <a:pt x="0" y="348856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t="-162" b="-163"/>
                </a:stretch>
              </a:blipFill>
            </p:spPr>
            <p:txBody>
              <a:bodyPr/>
              <a:lstStyle/>
              <a:p>
                <a:endParaRPr lang="id-ID" sz="933"/>
              </a:p>
            </p:txBody>
          </p:sp>
        </p:grpSp>
        <p:grpSp>
          <p:nvGrpSpPr>
            <p:cNvPr id="5" name="Group 22">
              <a:extLst>
                <a:ext uri="{FF2B5EF4-FFF2-40B4-BE49-F238E27FC236}">
                  <a16:creationId xmlns:a16="http://schemas.microsoft.com/office/drawing/2014/main" id="{5A9079C1-8A2D-C324-7753-F9619D75085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01" y="11413"/>
              <a:ext cx="2445987" cy="1083742"/>
              <a:chOff x="0" y="0"/>
              <a:chExt cx="7712964" cy="3417378"/>
            </a:xfrm>
          </p:grpSpPr>
          <p:sp>
            <p:nvSpPr>
              <p:cNvPr id="8" name="Freeform 23" descr="A black and white sign with a couple of heads  Description automatically generated">
                <a:extLst>
                  <a:ext uri="{FF2B5EF4-FFF2-40B4-BE49-F238E27FC236}">
                    <a16:creationId xmlns:a16="http://schemas.microsoft.com/office/drawing/2014/main" id="{540DCF03-CCA1-9AA1-FAB6-AA414D7C4BD9}"/>
                  </a:ext>
                </a:extLst>
              </p:cNvPr>
              <p:cNvSpPr/>
              <p:nvPr/>
            </p:nvSpPr>
            <p:spPr>
              <a:xfrm>
                <a:off x="0" y="0"/>
                <a:ext cx="7712964" cy="3417316"/>
              </a:xfrm>
              <a:custGeom>
                <a:avLst/>
                <a:gdLst/>
                <a:ahLst/>
                <a:cxnLst/>
                <a:rect l="l" t="t" r="r" b="b"/>
                <a:pathLst>
                  <a:path w="7712964" h="3417316">
                    <a:moveTo>
                      <a:pt x="0" y="0"/>
                    </a:moveTo>
                    <a:lnTo>
                      <a:pt x="7712964" y="0"/>
                    </a:lnTo>
                    <a:lnTo>
                      <a:pt x="7712964" y="3417316"/>
                    </a:lnTo>
                    <a:lnTo>
                      <a:pt x="0" y="341731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t="-162" b="-164"/>
                </a:stretch>
              </a:blipFill>
            </p:spPr>
            <p:txBody>
              <a:bodyPr/>
              <a:lstStyle/>
              <a:p>
                <a:endParaRPr lang="id-ID" sz="933"/>
              </a:p>
            </p:txBody>
          </p:sp>
        </p:grpSp>
        <p:grpSp>
          <p:nvGrpSpPr>
            <p:cNvPr id="6" name="Group 24">
              <a:extLst>
                <a:ext uri="{FF2B5EF4-FFF2-40B4-BE49-F238E27FC236}">
                  <a16:creationId xmlns:a16="http://schemas.microsoft.com/office/drawing/2014/main" id="{E12E29EB-DAA6-4F83-F9F5-82128350A8A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2496956" cy="1106325"/>
              <a:chOff x="0" y="0"/>
              <a:chExt cx="7873686" cy="3488591"/>
            </a:xfrm>
          </p:grpSpPr>
          <p:sp>
            <p:nvSpPr>
              <p:cNvPr id="7" name="Freeform 25" descr="A black and green sign with a couple of heads  Description automatically generated">
                <a:extLst>
                  <a:ext uri="{FF2B5EF4-FFF2-40B4-BE49-F238E27FC236}">
                    <a16:creationId xmlns:a16="http://schemas.microsoft.com/office/drawing/2014/main" id="{97771E95-3998-014A-F064-81182280D8BF}"/>
                  </a:ext>
                </a:extLst>
              </p:cNvPr>
              <p:cNvSpPr/>
              <p:nvPr/>
            </p:nvSpPr>
            <p:spPr>
              <a:xfrm>
                <a:off x="0" y="0"/>
                <a:ext cx="7873746" cy="3488563"/>
              </a:xfrm>
              <a:custGeom>
                <a:avLst/>
                <a:gdLst/>
                <a:ahLst/>
                <a:cxnLst/>
                <a:rect l="l" t="t" r="r" b="b"/>
                <a:pathLst>
                  <a:path w="7873746" h="3488563">
                    <a:moveTo>
                      <a:pt x="0" y="0"/>
                    </a:moveTo>
                    <a:lnTo>
                      <a:pt x="7873746" y="0"/>
                    </a:lnTo>
                    <a:lnTo>
                      <a:pt x="7873746" y="3488563"/>
                    </a:lnTo>
                    <a:lnTo>
                      <a:pt x="0" y="348856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t="-162" b="-163"/>
                </a:stretch>
              </a:blipFill>
            </p:spPr>
            <p:txBody>
              <a:bodyPr/>
              <a:lstStyle/>
              <a:p>
                <a:endParaRPr lang="id-ID" sz="933"/>
              </a:p>
            </p:txBody>
          </p:sp>
        </p:grpSp>
      </p:grpSp>
      <p:grpSp>
        <p:nvGrpSpPr>
          <p:cNvPr id="11" name="Group 26">
            <a:extLst>
              <a:ext uri="{FF2B5EF4-FFF2-40B4-BE49-F238E27FC236}">
                <a16:creationId xmlns:a16="http://schemas.microsoft.com/office/drawing/2014/main" id="{C3ADF3C0-8205-0E92-7D65-1D302CDC516E}"/>
              </a:ext>
            </a:extLst>
          </p:cNvPr>
          <p:cNvGrpSpPr>
            <a:grpSpLocks noChangeAspect="1"/>
          </p:cNvGrpSpPr>
          <p:nvPr/>
        </p:nvGrpSpPr>
        <p:grpSpPr>
          <a:xfrm>
            <a:off x="376401" y="6276989"/>
            <a:ext cx="2502089" cy="351321"/>
            <a:chOff x="0" y="0"/>
            <a:chExt cx="7739614" cy="1086727"/>
          </a:xfrm>
        </p:grpSpPr>
        <p:sp>
          <p:nvSpPr>
            <p:cNvPr id="12" name="Freeform 27">
              <a:extLst>
                <a:ext uri="{FF2B5EF4-FFF2-40B4-BE49-F238E27FC236}">
                  <a16:creationId xmlns:a16="http://schemas.microsoft.com/office/drawing/2014/main" id="{19618C3C-E48A-11E4-524F-B2833D9F7544}"/>
                </a:ext>
              </a:extLst>
            </p:cNvPr>
            <p:cNvSpPr/>
            <p:nvPr/>
          </p:nvSpPr>
          <p:spPr>
            <a:xfrm>
              <a:off x="0" y="0"/>
              <a:ext cx="7739634" cy="1086739"/>
            </a:xfrm>
            <a:custGeom>
              <a:avLst/>
              <a:gdLst/>
              <a:ahLst/>
              <a:cxnLst/>
              <a:rect l="l" t="t" r="r" b="b"/>
              <a:pathLst>
                <a:path w="7739634" h="1086739">
                  <a:moveTo>
                    <a:pt x="0" y="0"/>
                  </a:moveTo>
                  <a:lnTo>
                    <a:pt x="7739634" y="0"/>
                  </a:lnTo>
                  <a:lnTo>
                    <a:pt x="7739634" y="1086739"/>
                  </a:lnTo>
                  <a:lnTo>
                    <a:pt x="0" y="108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286" b="-285"/>
              </a:stretch>
            </a:blipFill>
          </p:spPr>
          <p:txBody>
            <a:bodyPr/>
            <a:lstStyle/>
            <a:p>
              <a:endParaRPr lang="id-ID" sz="933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1" cy="6858000"/>
            <a:chOff x="0" y="0"/>
            <a:chExt cx="24384002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28649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d-ID" sz="933"/>
            </a:p>
          </p:txBody>
        </p:sp>
      </p:grpSp>
      <p:sp>
        <p:nvSpPr>
          <p:cNvPr id="8" name="Google Shape;103;g3681c11f77f_0_51">
            <a:extLst>
              <a:ext uri="{FF2B5EF4-FFF2-40B4-BE49-F238E27FC236}">
                <a16:creationId xmlns:a16="http://schemas.microsoft.com/office/drawing/2014/main" id="{6D8AE84F-D6D0-9FBB-DECE-EF1E341E5A69}"/>
              </a:ext>
            </a:extLst>
          </p:cNvPr>
          <p:cNvSpPr txBox="1"/>
          <p:nvPr/>
        </p:nvSpPr>
        <p:spPr>
          <a:xfrm>
            <a:off x="1361766" y="1877512"/>
            <a:ext cx="9316776" cy="1154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33350" lvl="0" algn="just">
              <a:lnSpc>
                <a:spcPct val="115000"/>
              </a:lnSpc>
              <a:buClr>
                <a:schemeClr val="dk1"/>
              </a:buClr>
              <a:buSzPts val="1500"/>
            </a:pPr>
            <a:r>
              <a:rPr lang="en-US" sz="2000" b="1" i="1" dirty="0">
                <a:solidFill>
                  <a:schemeClr val="bg1">
                    <a:lumMod val="95000"/>
                  </a:schemeClr>
                </a:solidFill>
                <a:latin typeface="Montserrat" pitchFamily="2" charset="0"/>
              </a:rPr>
              <a:t>“</a:t>
            </a:r>
            <a:r>
              <a:rPr lang="id-ID" sz="2000" b="1" i="1" dirty="0">
                <a:solidFill>
                  <a:schemeClr val="bg1">
                    <a:lumMod val="95000"/>
                  </a:schemeClr>
                </a:solidFill>
                <a:latin typeface="Montserrat" pitchFamily="2" charset="0"/>
              </a:rPr>
              <a:t>Empowering Youth as Climate Action Multipliers through Digital Engagement and Green Skills Development</a:t>
            </a:r>
            <a:r>
              <a:rPr lang="en-US" sz="2000" b="1" i="1" dirty="0">
                <a:solidFill>
                  <a:schemeClr val="bg1">
                    <a:lumMod val="95000"/>
                  </a:schemeClr>
                </a:solidFill>
                <a:latin typeface="Montserrat" pitchFamily="2" charset="0"/>
              </a:rPr>
              <a:t>”</a:t>
            </a:r>
            <a:endParaRPr lang="en-ID" sz="2000" b="1" i="1" dirty="0">
              <a:solidFill>
                <a:schemeClr val="bg1">
                  <a:lumMod val="95000"/>
                </a:schemeClr>
              </a:solidFill>
              <a:latin typeface="Montserrat" pitchFamily="2" charset="0"/>
              <a:ea typeface="Montserrat"/>
              <a:cs typeface="Montserrat"/>
              <a:sym typeface="Montserrat"/>
            </a:endParaRPr>
          </a:p>
          <a:p>
            <a:pPr marL="133350" marR="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</a:pPr>
            <a:endParaRPr lang="en-ID" sz="2000" b="1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Google Shape;104;g3681c11f77f_0_51">
            <a:extLst>
              <a:ext uri="{FF2B5EF4-FFF2-40B4-BE49-F238E27FC236}">
                <a16:creationId xmlns:a16="http://schemas.microsoft.com/office/drawing/2014/main" id="{5A1F5CF3-2BCB-EEDB-3FDE-9DD24E81CA95}"/>
              </a:ext>
            </a:extLst>
          </p:cNvPr>
          <p:cNvSpPr txBox="1"/>
          <p:nvPr/>
        </p:nvSpPr>
        <p:spPr>
          <a:xfrm>
            <a:off x="1480465" y="999385"/>
            <a:ext cx="58194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D" sz="4000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Goals</a:t>
            </a:r>
            <a:endParaRPr sz="4000" b="1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618A3B-10BF-6521-BBF1-2C4B30A16760}"/>
              </a:ext>
            </a:extLst>
          </p:cNvPr>
          <p:cNvSpPr txBox="1"/>
          <p:nvPr/>
        </p:nvSpPr>
        <p:spPr>
          <a:xfrm>
            <a:off x="1361767" y="3031634"/>
            <a:ext cx="9316775" cy="134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3350" lvl="0" algn="just">
              <a:lnSpc>
                <a:spcPct val="115000"/>
              </a:lnSpc>
              <a:buClr>
                <a:schemeClr val="dk1"/>
              </a:buClr>
              <a:buSzPts val="1500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  <a:latin typeface="Montserrat" pitchFamily="2" charset="0"/>
              </a:rPr>
              <a:t>1. </a:t>
            </a:r>
            <a:r>
              <a:rPr lang="id-ID" dirty="0">
                <a:solidFill>
                  <a:schemeClr val="bg1">
                    <a:lumMod val="95000"/>
                  </a:schemeClr>
                </a:solidFill>
                <a:latin typeface="Montserrat" pitchFamily="2" charset="0"/>
              </a:rPr>
              <a:t>To empower youth to lead climate action through green skills and creative digital engagement.</a:t>
            </a:r>
            <a:endParaRPr lang="en-ID" b="1" dirty="0">
              <a:solidFill>
                <a:schemeClr val="bg1">
                  <a:lumMod val="95000"/>
                </a:schemeClr>
              </a:solidFill>
              <a:latin typeface="Montserrat" pitchFamily="2" charset="0"/>
              <a:ea typeface="Montserrat"/>
              <a:cs typeface="Montserrat"/>
              <a:sym typeface="Montserrat"/>
            </a:endParaRPr>
          </a:p>
          <a:p>
            <a:pPr marL="133350" lvl="0" algn="just">
              <a:lnSpc>
                <a:spcPct val="115000"/>
              </a:lnSpc>
              <a:buClr>
                <a:schemeClr val="dk1"/>
              </a:buClr>
              <a:buSzPts val="1500"/>
            </a:pPr>
            <a:r>
              <a:rPr lang="en-ID" sz="1800" dirty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Montserrat"/>
                <a:cs typeface="Montserrat"/>
                <a:sym typeface="Montserrat"/>
              </a:rPr>
              <a:t>2. </a:t>
            </a:r>
            <a:r>
              <a:rPr lang="id-ID" sz="1800" dirty="0">
                <a:solidFill>
                  <a:schemeClr val="bg1">
                    <a:lumMod val="95000"/>
                  </a:schemeClr>
                </a:solidFill>
                <a:latin typeface="Montserrat" pitchFamily="2" charset="0"/>
              </a:rPr>
              <a:t>To develop a scalable approach for integrating climate communication into community and local climate action</a:t>
            </a:r>
            <a:r>
              <a:rPr lang="id-ID" sz="1800" dirty="0"/>
              <a:t>.</a:t>
            </a:r>
            <a:endParaRPr lang="en-ID" sz="1800" b="1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" name="Group 17">
            <a:extLst>
              <a:ext uri="{FF2B5EF4-FFF2-40B4-BE49-F238E27FC236}">
                <a16:creationId xmlns:a16="http://schemas.microsoft.com/office/drawing/2014/main" id="{B4127F0D-5C89-FA2A-B596-6215F4F6DDCD}"/>
              </a:ext>
            </a:extLst>
          </p:cNvPr>
          <p:cNvGrpSpPr/>
          <p:nvPr/>
        </p:nvGrpSpPr>
        <p:grpSpPr>
          <a:xfrm>
            <a:off x="10567120" y="6049651"/>
            <a:ext cx="1248479" cy="553188"/>
            <a:chOff x="0" y="0"/>
            <a:chExt cx="2496956" cy="1106325"/>
          </a:xfrm>
        </p:grpSpPr>
        <p:grpSp>
          <p:nvGrpSpPr>
            <p:cNvPr id="5" name="Group 18">
              <a:extLst>
                <a:ext uri="{FF2B5EF4-FFF2-40B4-BE49-F238E27FC236}">
                  <a16:creationId xmlns:a16="http://schemas.microsoft.com/office/drawing/2014/main" id="{5A2AEABE-97EF-F8FA-3503-F653DDB702D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01" y="11413"/>
              <a:ext cx="2445987" cy="1083742"/>
              <a:chOff x="0" y="0"/>
              <a:chExt cx="7712964" cy="3417378"/>
            </a:xfrm>
          </p:grpSpPr>
          <p:sp>
            <p:nvSpPr>
              <p:cNvPr id="16" name="Freeform 19" descr="A black and white sign with a couple of heads  Description automatically generated">
                <a:extLst>
                  <a:ext uri="{FF2B5EF4-FFF2-40B4-BE49-F238E27FC236}">
                    <a16:creationId xmlns:a16="http://schemas.microsoft.com/office/drawing/2014/main" id="{A16F6D1D-28F9-9154-25EB-0BBF7B6F76DC}"/>
                  </a:ext>
                </a:extLst>
              </p:cNvPr>
              <p:cNvSpPr/>
              <p:nvPr/>
            </p:nvSpPr>
            <p:spPr>
              <a:xfrm>
                <a:off x="0" y="0"/>
                <a:ext cx="7712964" cy="3417316"/>
              </a:xfrm>
              <a:custGeom>
                <a:avLst/>
                <a:gdLst/>
                <a:ahLst/>
                <a:cxnLst/>
                <a:rect l="l" t="t" r="r" b="b"/>
                <a:pathLst>
                  <a:path w="7712964" h="3417316">
                    <a:moveTo>
                      <a:pt x="0" y="0"/>
                    </a:moveTo>
                    <a:lnTo>
                      <a:pt x="7712964" y="0"/>
                    </a:lnTo>
                    <a:lnTo>
                      <a:pt x="7712964" y="3417316"/>
                    </a:lnTo>
                    <a:lnTo>
                      <a:pt x="0" y="341731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t="-162" b="-164"/>
                </a:stretch>
              </a:blipFill>
            </p:spPr>
            <p:txBody>
              <a:bodyPr/>
              <a:lstStyle/>
              <a:p>
                <a:endParaRPr lang="id-ID" sz="933"/>
              </a:p>
            </p:txBody>
          </p:sp>
        </p:grpSp>
        <p:grpSp>
          <p:nvGrpSpPr>
            <p:cNvPr id="6" name="Group 20">
              <a:extLst>
                <a:ext uri="{FF2B5EF4-FFF2-40B4-BE49-F238E27FC236}">
                  <a16:creationId xmlns:a16="http://schemas.microsoft.com/office/drawing/2014/main" id="{E3F2A7C8-5EF5-C367-3464-26338CE6966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2496956" cy="1106325"/>
              <a:chOff x="0" y="0"/>
              <a:chExt cx="7873686" cy="3488591"/>
            </a:xfrm>
          </p:grpSpPr>
          <p:sp>
            <p:nvSpPr>
              <p:cNvPr id="15" name="Freeform 21" descr="A black and green sign with a couple of heads  Description automatically generated">
                <a:extLst>
                  <a:ext uri="{FF2B5EF4-FFF2-40B4-BE49-F238E27FC236}">
                    <a16:creationId xmlns:a16="http://schemas.microsoft.com/office/drawing/2014/main" id="{BB404F4B-C089-2114-5EE1-81529A6BDE25}"/>
                  </a:ext>
                </a:extLst>
              </p:cNvPr>
              <p:cNvSpPr/>
              <p:nvPr/>
            </p:nvSpPr>
            <p:spPr>
              <a:xfrm>
                <a:off x="0" y="0"/>
                <a:ext cx="7873746" cy="3488563"/>
              </a:xfrm>
              <a:custGeom>
                <a:avLst/>
                <a:gdLst/>
                <a:ahLst/>
                <a:cxnLst/>
                <a:rect l="l" t="t" r="r" b="b"/>
                <a:pathLst>
                  <a:path w="7873746" h="3488563">
                    <a:moveTo>
                      <a:pt x="0" y="0"/>
                    </a:moveTo>
                    <a:lnTo>
                      <a:pt x="7873746" y="0"/>
                    </a:lnTo>
                    <a:lnTo>
                      <a:pt x="7873746" y="3488563"/>
                    </a:lnTo>
                    <a:lnTo>
                      <a:pt x="0" y="348856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t="-162" b="-163"/>
                </a:stretch>
              </a:blipFill>
            </p:spPr>
            <p:txBody>
              <a:bodyPr/>
              <a:lstStyle/>
              <a:p>
                <a:endParaRPr lang="id-ID" sz="933"/>
              </a:p>
            </p:txBody>
          </p:sp>
        </p:grpSp>
        <p:grpSp>
          <p:nvGrpSpPr>
            <p:cNvPr id="10" name="Group 22">
              <a:extLst>
                <a:ext uri="{FF2B5EF4-FFF2-40B4-BE49-F238E27FC236}">
                  <a16:creationId xmlns:a16="http://schemas.microsoft.com/office/drawing/2014/main" id="{35F2CEF1-C6E5-DF9B-C629-C4BF6DB4429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01" y="11413"/>
              <a:ext cx="2445987" cy="1083742"/>
              <a:chOff x="0" y="0"/>
              <a:chExt cx="7712964" cy="3417378"/>
            </a:xfrm>
          </p:grpSpPr>
          <p:sp>
            <p:nvSpPr>
              <p:cNvPr id="14" name="Freeform 23" descr="A black and white sign with a couple of heads  Description automatically generated">
                <a:extLst>
                  <a:ext uri="{FF2B5EF4-FFF2-40B4-BE49-F238E27FC236}">
                    <a16:creationId xmlns:a16="http://schemas.microsoft.com/office/drawing/2014/main" id="{7BDE1F41-D6E0-6B8E-59D5-9892DC155247}"/>
                  </a:ext>
                </a:extLst>
              </p:cNvPr>
              <p:cNvSpPr/>
              <p:nvPr/>
            </p:nvSpPr>
            <p:spPr>
              <a:xfrm>
                <a:off x="0" y="0"/>
                <a:ext cx="7712964" cy="3417316"/>
              </a:xfrm>
              <a:custGeom>
                <a:avLst/>
                <a:gdLst/>
                <a:ahLst/>
                <a:cxnLst/>
                <a:rect l="l" t="t" r="r" b="b"/>
                <a:pathLst>
                  <a:path w="7712964" h="3417316">
                    <a:moveTo>
                      <a:pt x="0" y="0"/>
                    </a:moveTo>
                    <a:lnTo>
                      <a:pt x="7712964" y="0"/>
                    </a:lnTo>
                    <a:lnTo>
                      <a:pt x="7712964" y="3417316"/>
                    </a:lnTo>
                    <a:lnTo>
                      <a:pt x="0" y="341731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t="-162" b="-164"/>
                </a:stretch>
              </a:blipFill>
            </p:spPr>
            <p:txBody>
              <a:bodyPr/>
              <a:lstStyle/>
              <a:p>
                <a:endParaRPr lang="id-ID" sz="933"/>
              </a:p>
            </p:txBody>
          </p:sp>
        </p:grpSp>
        <p:grpSp>
          <p:nvGrpSpPr>
            <p:cNvPr id="12" name="Group 24">
              <a:extLst>
                <a:ext uri="{FF2B5EF4-FFF2-40B4-BE49-F238E27FC236}">
                  <a16:creationId xmlns:a16="http://schemas.microsoft.com/office/drawing/2014/main" id="{D05C75C7-A24B-162D-3558-D52F6F1AD76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2496956" cy="1106325"/>
              <a:chOff x="0" y="0"/>
              <a:chExt cx="7873686" cy="3488591"/>
            </a:xfrm>
          </p:grpSpPr>
          <p:sp>
            <p:nvSpPr>
              <p:cNvPr id="13" name="Freeform 25" descr="A black and green sign with a couple of heads  Description automatically generated">
                <a:extLst>
                  <a:ext uri="{FF2B5EF4-FFF2-40B4-BE49-F238E27FC236}">
                    <a16:creationId xmlns:a16="http://schemas.microsoft.com/office/drawing/2014/main" id="{850152C7-35FB-6BAA-EE7D-F7E817A6C7FE}"/>
                  </a:ext>
                </a:extLst>
              </p:cNvPr>
              <p:cNvSpPr/>
              <p:nvPr/>
            </p:nvSpPr>
            <p:spPr>
              <a:xfrm>
                <a:off x="0" y="0"/>
                <a:ext cx="7873746" cy="3488563"/>
              </a:xfrm>
              <a:custGeom>
                <a:avLst/>
                <a:gdLst/>
                <a:ahLst/>
                <a:cxnLst/>
                <a:rect l="l" t="t" r="r" b="b"/>
                <a:pathLst>
                  <a:path w="7873746" h="3488563">
                    <a:moveTo>
                      <a:pt x="0" y="0"/>
                    </a:moveTo>
                    <a:lnTo>
                      <a:pt x="7873746" y="0"/>
                    </a:lnTo>
                    <a:lnTo>
                      <a:pt x="7873746" y="3488563"/>
                    </a:lnTo>
                    <a:lnTo>
                      <a:pt x="0" y="348856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t="-162" b="-163"/>
                </a:stretch>
              </a:blipFill>
            </p:spPr>
            <p:txBody>
              <a:bodyPr/>
              <a:lstStyle/>
              <a:p>
                <a:endParaRPr lang="id-ID" sz="933"/>
              </a:p>
            </p:txBody>
          </p:sp>
        </p:grpSp>
      </p:grpSp>
      <p:grpSp>
        <p:nvGrpSpPr>
          <p:cNvPr id="17" name="Group 26">
            <a:extLst>
              <a:ext uri="{FF2B5EF4-FFF2-40B4-BE49-F238E27FC236}">
                <a16:creationId xmlns:a16="http://schemas.microsoft.com/office/drawing/2014/main" id="{23E50EEC-0CDB-C5D7-5D3B-FCECD66A74FD}"/>
              </a:ext>
            </a:extLst>
          </p:cNvPr>
          <p:cNvGrpSpPr>
            <a:grpSpLocks noChangeAspect="1"/>
          </p:cNvGrpSpPr>
          <p:nvPr/>
        </p:nvGrpSpPr>
        <p:grpSpPr>
          <a:xfrm>
            <a:off x="376401" y="6276989"/>
            <a:ext cx="2502089" cy="351321"/>
            <a:chOff x="0" y="0"/>
            <a:chExt cx="7739614" cy="1086727"/>
          </a:xfrm>
        </p:grpSpPr>
        <p:sp>
          <p:nvSpPr>
            <p:cNvPr id="18" name="Freeform 27">
              <a:extLst>
                <a:ext uri="{FF2B5EF4-FFF2-40B4-BE49-F238E27FC236}">
                  <a16:creationId xmlns:a16="http://schemas.microsoft.com/office/drawing/2014/main" id="{E2239DAE-B108-20F2-91E0-F6BDAD68C5BD}"/>
                </a:ext>
              </a:extLst>
            </p:cNvPr>
            <p:cNvSpPr/>
            <p:nvPr/>
          </p:nvSpPr>
          <p:spPr>
            <a:xfrm>
              <a:off x="0" y="0"/>
              <a:ext cx="7739634" cy="1086739"/>
            </a:xfrm>
            <a:custGeom>
              <a:avLst/>
              <a:gdLst/>
              <a:ahLst/>
              <a:cxnLst/>
              <a:rect l="l" t="t" r="r" b="b"/>
              <a:pathLst>
                <a:path w="7739634" h="1086739">
                  <a:moveTo>
                    <a:pt x="0" y="0"/>
                  </a:moveTo>
                  <a:lnTo>
                    <a:pt x="7739634" y="0"/>
                  </a:lnTo>
                  <a:lnTo>
                    <a:pt x="7739634" y="1086739"/>
                  </a:lnTo>
                  <a:lnTo>
                    <a:pt x="0" y="108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86" b="-285"/>
              </a:stretch>
            </a:blipFill>
          </p:spPr>
          <p:txBody>
            <a:bodyPr/>
            <a:lstStyle/>
            <a:p>
              <a:endParaRPr lang="id-ID" sz="933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285697" y="3584875"/>
            <a:ext cx="2781936" cy="1028700"/>
            <a:chOff x="0" y="0"/>
            <a:chExt cx="1099036" cy="406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99036" cy="406400"/>
            </a:xfrm>
            <a:custGeom>
              <a:avLst/>
              <a:gdLst/>
              <a:ahLst/>
              <a:cxnLst/>
              <a:rect l="l" t="t" r="r" b="b"/>
              <a:pathLst>
                <a:path w="1099036" h="406400">
                  <a:moveTo>
                    <a:pt x="94619" y="0"/>
                  </a:moveTo>
                  <a:lnTo>
                    <a:pt x="1004417" y="0"/>
                  </a:lnTo>
                  <a:cubicBezTo>
                    <a:pt x="1056674" y="0"/>
                    <a:pt x="1099036" y="42363"/>
                    <a:pt x="1099036" y="94619"/>
                  </a:cubicBezTo>
                  <a:lnTo>
                    <a:pt x="1099036" y="311781"/>
                  </a:lnTo>
                  <a:cubicBezTo>
                    <a:pt x="1099036" y="336875"/>
                    <a:pt x="1089068" y="360942"/>
                    <a:pt x="1071323" y="378687"/>
                  </a:cubicBezTo>
                  <a:cubicBezTo>
                    <a:pt x="1053578" y="396431"/>
                    <a:pt x="1029512" y="406400"/>
                    <a:pt x="1004417" y="406400"/>
                  </a:cubicBezTo>
                  <a:lnTo>
                    <a:pt x="94619" y="406400"/>
                  </a:lnTo>
                  <a:cubicBezTo>
                    <a:pt x="42363" y="406400"/>
                    <a:pt x="0" y="364037"/>
                    <a:pt x="0" y="311781"/>
                  </a:cubicBezTo>
                  <a:lnTo>
                    <a:pt x="0" y="94619"/>
                  </a:lnTo>
                  <a:cubicBezTo>
                    <a:pt x="0" y="42363"/>
                    <a:pt x="42363" y="0"/>
                    <a:pt x="94619" y="0"/>
                  </a:cubicBezTo>
                  <a:close/>
                </a:path>
              </a:pathLst>
            </a:custGeom>
            <a:solidFill>
              <a:srgbClr val="FBB715"/>
            </a:solidFill>
          </p:spPr>
          <p:txBody>
            <a:bodyPr/>
            <a:lstStyle/>
            <a:p>
              <a:endParaRPr lang="id-ID" sz="933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9525"/>
              <a:ext cx="1099036" cy="3968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68"/>
                </a:lnSpc>
              </a:pPr>
              <a:r>
                <a:rPr lang="en-US" sz="1400" dirty="0">
                  <a:solidFill>
                    <a:srgbClr val="303030"/>
                  </a:solidFill>
                </a:rPr>
                <a:t>Participants</a:t>
              </a:r>
            </a:p>
            <a:p>
              <a:pPr algn="ctr">
                <a:lnSpc>
                  <a:spcPts val="1368"/>
                </a:lnSpc>
              </a:pPr>
              <a:r>
                <a:rPr lang="en-US" sz="1400" dirty="0">
                  <a:solidFill>
                    <a:srgbClr val="303030"/>
                  </a:solidFill>
                </a:rPr>
                <a:t>30 youth (age 17-25) from 10 provinces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85697" y="2320625"/>
            <a:ext cx="2781936" cy="1028700"/>
            <a:chOff x="0" y="0"/>
            <a:chExt cx="1099036" cy="406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99036" cy="406400"/>
            </a:xfrm>
            <a:custGeom>
              <a:avLst/>
              <a:gdLst/>
              <a:ahLst/>
              <a:cxnLst/>
              <a:rect l="l" t="t" r="r" b="b"/>
              <a:pathLst>
                <a:path w="1099036" h="406400">
                  <a:moveTo>
                    <a:pt x="94619" y="0"/>
                  </a:moveTo>
                  <a:lnTo>
                    <a:pt x="1004417" y="0"/>
                  </a:lnTo>
                  <a:cubicBezTo>
                    <a:pt x="1056674" y="0"/>
                    <a:pt x="1099036" y="42363"/>
                    <a:pt x="1099036" y="94619"/>
                  </a:cubicBezTo>
                  <a:lnTo>
                    <a:pt x="1099036" y="311781"/>
                  </a:lnTo>
                  <a:cubicBezTo>
                    <a:pt x="1099036" y="336875"/>
                    <a:pt x="1089068" y="360942"/>
                    <a:pt x="1071323" y="378687"/>
                  </a:cubicBezTo>
                  <a:cubicBezTo>
                    <a:pt x="1053578" y="396431"/>
                    <a:pt x="1029512" y="406400"/>
                    <a:pt x="1004417" y="406400"/>
                  </a:cubicBezTo>
                  <a:lnTo>
                    <a:pt x="94619" y="406400"/>
                  </a:lnTo>
                  <a:cubicBezTo>
                    <a:pt x="42363" y="406400"/>
                    <a:pt x="0" y="364037"/>
                    <a:pt x="0" y="311781"/>
                  </a:cubicBezTo>
                  <a:lnTo>
                    <a:pt x="0" y="94619"/>
                  </a:lnTo>
                  <a:cubicBezTo>
                    <a:pt x="0" y="42363"/>
                    <a:pt x="42363" y="0"/>
                    <a:pt x="94619" y="0"/>
                  </a:cubicBezTo>
                  <a:close/>
                </a:path>
              </a:pathLst>
            </a:custGeom>
            <a:solidFill>
              <a:srgbClr val="FBB715"/>
            </a:solidFill>
          </p:spPr>
          <p:txBody>
            <a:bodyPr/>
            <a:lstStyle/>
            <a:p>
              <a:endParaRPr lang="id-ID" sz="933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1099036" cy="3968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68"/>
                </a:lnSpc>
              </a:pPr>
              <a:r>
                <a:rPr lang="en-US" sz="1400" dirty="0">
                  <a:solidFill>
                    <a:srgbClr val="303030"/>
                  </a:solidFill>
                </a:rPr>
                <a:t>AIDA Model</a:t>
              </a:r>
            </a:p>
            <a:p>
              <a:pPr algn="ctr">
                <a:lnSpc>
                  <a:spcPts val="1368"/>
                </a:lnSpc>
              </a:pPr>
              <a:r>
                <a:rPr lang="en-US" sz="1400" dirty="0">
                  <a:solidFill>
                    <a:srgbClr val="303030"/>
                  </a:solidFill>
                </a:rPr>
                <a:t>Digital engagement  (Attention, Interest, Desire, Action)</a:t>
              </a:r>
            </a:p>
            <a:p>
              <a:pPr algn="ctr">
                <a:lnSpc>
                  <a:spcPts val="1368"/>
                </a:lnSpc>
              </a:pPr>
              <a:endParaRPr lang="en-US" sz="1400" dirty="0">
                <a:solidFill>
                  <a:srgbClr val="303030"/>
                </a:solidFill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17550" y="2462254"/>
            <a:ext cx="745444" cy="74544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6874B"/>
            </a:solidFill>
          </p:spPr>
          <p:txBody>
            <a:bodyPr/>
            <a:lstStyle/>
            <a:p>
              <a:endParaRPr lang="id-ID" sz="933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7000" y="136525"/>
              <a:ext cx="558800" cy="5492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56"/>
                </a:lnSpc>
              </a:pPr>
              <a:r>
                <a:rPr lang="en-US" sz="1533">
                  <a:solidFill>
                    <a:srgbClr val="FFFCF5"/>
                  </a:solidFill>
                </a:rPr>
                <a:t>1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17550" y="3726503"/>
            <a:ext cx="745444" cy="745444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6874B"/>
            </a:solidFill>
          </p:spPr>
          <p:txBody>
            <a:bodyPr/>
            <a:lstStyle/>
            <a:p>
              <a:endParaRPr lang="id-ID" sz="933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7000" y="146050"/>
              <a:ext cx="558800" cy="5397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40"/>
                </a:lnSpc>
              </a:pPr>
              <a:r>
                <a:rPr lang="en-US" sz="1333">
                  <a:solidFill>
                    <a:srgbClr val="FFFCF5"/>
                  </a:solidFill>
                </a:rPr>
                <a:t>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893007" y="2424154"/>
            <a:ext cx="2068335" cy="2057400"/>
            <a:chOff x="0" y="0"/>
            <a:chExt cx="4136670" cy="4114800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4136670" cy="4114800"/>
              <a:chOff x="0" y="0"/>
              <a:chExt cx="81712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712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7120" h="812800">
                    <a:moveTo>
                      <a:pt x="127264" y="0"/>
                    </a:moveTo>
                    <a:lnTo>
                      <a:pt x="689856" y="0"/>
                    </a:lnTo>
                    <a:cubicBezTo>
                      <a:pt x="723608" y="0"/>
                      <a:pt x="755978" y="13408"/>
                      <a:pt x="779845" y="37275"/>
                    </a:cubicBezTo>
                    <a:cubicBezTo>
                      <a:pt x="803712" y="61142"/>
                      <a:pt x="817120" y="93512"/>
                      <a:pt x="817120" y="127264"/>
                    </a:cubicBezTo>
                    <a:lnTo>
                      <a:pt x="817120" y="685536"/>
                    </a:lnTo>
                    <a:cubicBezTo>
                      <a:pt x="817120" y="755822"/>
                      <a:pt x="760142" y="812800"/>
                      <a:pt x="689856" y="812800"/>
                    </a:cubicBezTo>
                    <a:lnTo>
                      <a:pt x="127264" y="812800"/>
                    </a:lnTo>
                    <a:cubicBezTo>
                      <a:pt x="56978" y="812800"/>
                      <a:pt x="0" y="755822"/>
                      <a:pt x="0" y="685536"/>
                    </a:cubicBezTo>
                    <a:lnTo>
                      <a:pt x="0" y="127264"/>
                    </a:lnTo>
                    <a:cubicBezTo>
                      <a:pt x="0" y="56978"/>
                      <a:pt x="56978" y="0"/>
                      <a:pt x="127264" y="0"/>
                    </a:cubicBezTo>
                    <a:close/>
                  </a:path>
                </a:pathLst>
              </a:custGeom>
              <a:solidFill>
                <a:srgbClr val="26874B"/>
              </a:solidFill>
            </p:spPr>
            <p:txBody>
              <a:bodyPr/>
              <a:lstStyle/>
              <a:p>
                <a:endParaRPr lang="id-ID" sz="933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19050"/>
                <a:ext cx="817120" cy="79375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440"/>
                  </a:lnSpc>
                </a:pPr>
                <a:endParaRPr sz="933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0" y="313962"/>
              <a:ext cx="4136670" cy="3788138"/>
              <a:chOff x="0" y="0"/>
              <a:chExt cx="817120" cy="748274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7120" cy="748274"/>
              </a:xfrm>
              <a:custGeom>
                <a:avLst/>
                <a:gdLst/>
                <a:ahLst/>
                <a:cxnLst/>
                <a:rect l="l" t="t" r="r" b="b"/>
                <a:pathLst>
                  <a:path w="817120" h="748274">
                    <a:moveTo>
                      <a:pt x="127264" y="0"/>
                    </a:moveTo>
                    <a:lnTo>
                      <a:pt x="689856" y="0"/>
                    </a:lnTo>
                    <a:cubicBezTo>
                      <a:pt x="723608" y="0"/>
                      <a:pt x="755978" y="13408"/>
                      <a:pt x="779845" y="37275"/>
                    </a:cubicBezTo>
                    <a:cubicBezTo>
                      <a:pt x="803712" y="61142"/>
                      <a:pt x="817120" y="93512"/>
                      <a:pt x="817120" y="127264"/>
                    </a:cubicBezTo>
                    <a:lnTo>
                      <a:pt x="817120" y="621010"/>
                    </a:lnTo>
                    <a:cubicBezTo>
                      <a:pt x="817120" y="691296"/>
                      <a:pt x="760142" y="748274"/>
                      <a:pt x="689856" y="748274"/>
                    </a:cubicBezTo>
                    <a:lnTo>
                      <a:pt x="127264" y="748274"/>
                    </a:lnTo>
                    <a:cubicBezTo>
                      <a:pt x="56978" y="748274"/>
                      <a:pt x="0" y="691296"/>
                      <a:pt x="0" y="621010"/>
                    </a:cubicBezTo>
                    <a:lnTo>
                      <a:pt x="0" y="127264"/>
                    </a:lnTo>
                    <a:cubicBezTo>
                      <a:pt x="0" y="56978"/>
                      <a:pt x="56978" y="0"/>
                      <a:pt x="12726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rnd">
                <a:solidFill>
                  <a:srgbClr val="298D4E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id-ID" sz="933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19050"/>
                <a:ext cx="817120" cy="729224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440"/>
                  </a:lnSpc>
                </a:pPr>
                <a:endParaRPr sz="1500" dirty="0"/>
              </a:p>
              <a:p>
                <a:pPr algn="ctr">
                  <a:lnSpc>
                    <a:spcPts val="1440"/>
                  </a:lnSpc>
                </a:pPr>
                <a:endParaRPr sz="1500" dirty="0"/>
              </a:p>
              <a:p>
                <a:pPr algn="ctr">
                  <a:lnSpc>
                    <a:spcPts val="1440"/>
                  </a:lnSpc>
                </a:pPr>
                <a:endParaRPr sz="1500" dirty="0"/>
              </a:p>
              <a:p>
                <a:pPr algn="ctr">
                  <a:lnSpc>
                    <a:spcPts val="1440"/>
                  </a:lnSpc>
                </a:pPr>
                <a:r>
                  <a:rPr lang="en-US" sz="1500" dirty="0"/>
                  <a:t>Pre/Post-test</a:t>
                </a:r>
              </a:p>
              <a:p>
                <a:pPr algn="ctr">
                  <a:lnSpc>
                    <a:spcPts val="1440"/>
                  </a:lnSpc>
                </a:pPr>
                <a:r>
                  <a:rPr lang="en-US" sz="1500" dirty="0"/>
                  <a:t>Climate literacy assessment</a:t>
                </a:r>
              </a:p>
              <a:p>
                <a:pPr algn="ctr">
                  <a:lnSpc>
                    <a:spcPts val="1440"/>
                  </a:lnSpc>
                </a:pPr>
                <a:endParaRPr lang="en-US" sz="1500" dirty="0"/>
              </a:p>
            </p:txBody>
          </p:sp>
        </p:grpSp>
        <p:sp>
          <p:nvSpPr>
            <p:cNvPr id="23" name="Freeform 23"/>
            <p:cNvSpPr/>
            <p:nvPr/>
          </p:nvSpPr>
          <p:spPr>
            <a:xfrm>
              <a:off x="1643620" y="615950"/>
              <a:ext cx="1034167" cy="1028700"/>
            </a:xfrm>
            <a:custGeom>
              <a:avLst/>
              <a:gdLst/>
              <a:ahLst/>
              <a:cxnLst/>
              <a:rect l="l" t="t" r="r" b="b"/>
              <a:pathLst>
                <a:path w="1034167" h="1028700">
                  <a:moveTo>
                    <a:pt x="0" y="0"/>
                  </a:moveTo>
                  <a:lnTo>
                    <a:pt x="1034167" y="0"/>
                  </a:lnTo>
                  <a:lnTo>
                    <a:pt x="1034167" y="1028700"/>
                  </a:lnTo>
                  <a:lnTo>
                    <a:pt x="0" y="102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65" b="-265"/>
              </a:stretch>
            </a:blipFill>
          </p:spPr>
          <p:txBody>
            <a:bodyPr/>
            <a:lstStyle/>
            <a:p>
              <a:endParaRPr lang="id-ID" sz="933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149339" y="2424154"/>
            <a:ext cx="2068335" cy="2057400"/>
            <a:chOff x="0" y="0"/>
            <a:chExt cx="4136670" cy="4114800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4136670" cy="4114800"/>
              <a:chOff x="0" y="0"/>
              <a:chExt cx="81712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712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7120" h="812800">
                    <a:moveTo>
                      <a:pt x="127264" y="0"/>
                    </a:moveTo>
                    <a:lnTo>
                      <a:pt x="689856" y="0"/>
                    </a:lnTo>
                    <a:cubicBezTo>
                      <a:pt x="723608" y="0"/>
                      <a:pt x="755978" y="13408"/>
                      <a:pt x="779845" y="37275"/>
                    </a:cubicBezTo>
                    <a:cubicBezTo>
                      <a:pt x="803712" y="61142"/>
                      <a:pt x="817120" y="93512"/>
                      <a:pt x="817120" y="127264"/>
                    </a:cubicBezTo>
                    <a:lnTo>
                      <a:pt x="817120" y="685536"/>
                    </a:lnTo>
                    <a:cubicBezTo>
                      <a:pt x="817120" y="755822"/>
                      <a:pt x="760142" y="812800"/>
                      <a:pt x="689856" y="812800"/>
                    </a:cubicBezTo>
                    <a:lnTo>
                      <a:pt x="127264" y="812800"/>
                    </a:lnTo>
                    <a:cubicBezTo>
                      <a:pt x="56978" y="812800"/>
                      <a:pt x="0" y="755822"/>
                      <a:pt x="0" y="685536"/>
                    </a:cubicBezTo>
                    <a:lnTo>
                      <a:pt x="0" y="127264"/>
                    </a:lnTo>
                    <a:cubicBezTo>
                      <a:pt x="0" y="56978"/>
                      <a:pt x="56978" y="0"/>
                      <a:pt x="127264" y="0"/>
                    </a:cubicBezTo>
                    <a:close/>
                  </a:path>
                </a:pathLst>
              </a:custGeom>
              <a:solidFill>
                <a:srgbClr val="26874B"/>
              </a:solidFill>
            </p:spPr>
            <p:txBody>
              <a:bodyPr/>
              <a:lstStyle/>
              <a:p>
                <a:endParaRPr lang="id-ID" sz="933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19050"/>
                <a:ext cx="817120" cy="79375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440"/>
                  </a:lnSpc>
                </a:pPr>
                <a:endParaRPr sz="933"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0" y="313962"/>
              <a:ext cx="4136670" cy="3788138"/>
              <a:chOff x="0" y="0"/>
              <a:chExt cx="817120" cy="748274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17120" cy="748274"/>
              </a:xfrm>
              <a:custGeom>
                <a:avLst/>
                <a:gdLst/>
                <a:ahLst/>
                <a:cxnLst/>
                <a:rect l="l" t="t" r="r" b="b"/>
                <a:pathLst>
                  <a:path w="817120" h="748274">
                    <a:moveTo>
                      <a:pt x="127264" y="0"/>
                    </a:moveTo>
                    <a:lnTo>
                      <a:pt x="689856" y="0"/>
                    </a:lnTo>
                    <a:cubicBezTo>
                      <a:pt x="723608" y="0"/>
                      <a:pt x="755978" y="13408"/>
                      <a:pt x="779845" y="37275"/>
                    </a:cubicBezTo>
                    <a:cubicBezTo>
                      <a:pt x="803712" y="61142"/>
                      <a:pt x="817120" y="93512"/>
                      <a:pt x="817120" y="127264"/>
                    </a:cubicBezTo>
                    <a:lnTo>
                      <a:pt x="817120" y="621010"/>
                    </a:lnTo>
                    <a:cubicBezTo>
                      <a:pt x="817120" y="691296"/>
                      <a:pt x="760142" y="748274"/>
                      <a:pt x="689856" y="748274"/>
                    </a:cubicBezTo>
                    <a:lnTo>
                      <a:pt x="127264" y="748274"/>
                    </a:lnTo>
                    <a:cubicBezTo>
                      <a:pt x="56978" y="748274"/>
                      <a:pt x="0" y="691296"/>
                      <a:pt x="0" y="621010"/>
                    </a:cubicBezTo>
                    <a:lnTo>
                      <a:pt x="0" y="127264"/>
                    </a:lnTo>
                    <a:cubicBezTo>
                      <a:pt x="0" y="56978"/>
                      <a:pt x="56978" y="0"/>
                      <a:pt x="12726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rnd">
                <a:solidFill>
                  <a:srgbClr val="298D4E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id-ID" sz="933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19050"/>
                <a:ext cx="817120" cy="729224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440"/>
                  </a:lnSpc>
                </a:pPr>
                <a:endParaRPr sz="1500" dirty="0"/>
              </a:p>
              <a:p>
                <a:pPr algn="ctr">
                  <a:lnSpc>
                    <a:spcPts val="1440"/>
                  </a:lnSpc>
                </a:pPr>
                <a:endParaRPr sz="1500" dirty="0"/>
              </a:p>
              <a:p>
                <a:pPr algn="ctr">
                  <a:lnSpc>
                    <a:spcPts val="1440"/>
                  </a:lnSpc>
                </a:pPr>
                <a:endParaRPr sz="1500" dirty="0"/>
              </a:p>
              <a:p>
                <a:pPr algn="ctr">
                  <a:lnSpc>
                    <a:spcPts val="1440"/>
                  </a:lnSpc>
                </a:pPr>
                <a:endParaRPr sz="1500" dirty="0"/>
              </a:p>
              <a:p>
                <a:pPr algn="ctr">
                  <a:lnSpc>
                    <a:spcPts val="1440"/>
                  </a:lnSpc>
                </a:pPr>
                <a:r>
                  <a:rPr lang="en-US" sz="1500" dirty="0"/>
                  <a:t>Content Analysis</a:t>
                </a:r>
              </a:p>
              <a:p>
                <a:pPr algn="ctr">
                  <a:lnSpc>
                    <a:spcPts val="1440"/>
                  </a:lnSpc>
                </a:pPr>
                <a:r>
                  <a:rPr lang="en-US" sz="1500" dirty="0"/>
                  <a:t>13 educational vlogs produced</a:t>
                </a:r>
              </a:p>
              <a:p>
                <a:pPr algn="ctr">
                  <a:lnSpc>
                    <a:spcPts val="1440"/>
                  </a:lnSpc>
                </a:pPr>
                <a:endParaRPr lang="en-US" sz="1500" dirty="0"/>
              </a:p>
              <a:p>
                <a:pPr algn="ctr">
                  <a:lnSpc>
                    <a:spcPts val="1440"/>
                  </a:lnSpc>
                </a:pPr>
                <a:endParaRPr lang="en-US" sz="1500" dirty="0"/>
              </a:p>
            </p:txBody>
          </p:sp>
        </p:grpSp>
      </p:grpSp>
      <p:sp>
        <p:nvSpPr>
          <p:cNvPr id="31" name="Freeform 31"/>
          <p:cNvSpPr/>
          <p:nvPr/>
        </p:nvSpPr>
        <p:spPr>
          <a:xfrm>
            <a:off x="7892807" y="2729826"/>
            <a:ext cx="581400" cy="581400"/>
          </a:xfrm>
          <a:custGeom>
            <a:avLst/>
            <a:gdLst/>
            <a:ahLst/>
            <a:cxnLst/>
            <a:rect l="l" t="t" r="r" b="b"/>
            <a:pathLst>
              <a:path w="872100" h="872100">
                <a:moveTo>
                  <a:pt x="0" y="0"/>
                </a:moveTo>
                <a:lnTo>
                  <a:pt x="872100" y="0"/>
                </a:lnTo>
                <a:lnTo>
                  <a:pt x="872100" y="872099"/>
                </a:lnTo>
                <a:lnTo>
                  <a:pt x="0" y="8720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sz="933"/>
          </a:p>
        </p:txBody>
      </p:sp>
      <p:grpSp>
        <p:nvGrpSpPr>
          <p:cNvPr id="32" name="Group 32"/>
          <p:cNvGrpSpPr/>
          <p:nvPr/>
        </p:nvGrpSpPr>
        <p:grpSpPr>
          <a:xfrm>
            <a:off x="9437865" y="2424154"/>
            <a:ext cx="2068335" cy="2057400"/>
            <a:chOff x="0" y="0"/>
            <a:chExt cx="4136670" cy="4114800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4136670" cy="4114800"/>
              <a:chOff x="0" y="0"/>
              <a:chExt cx="817120" cy="8128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712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7120" h="812800">
                    <a:moveTo>
                      <a:pt x="127264" y="0"/>
                    </a:moveTo>
                    <a:lnTo>
                      <a:pt x="689856" y="0"/>
                    </a:lnTo>
                    <a:cubicBezTo>
                      <a:pt x="723608" y="0"/>
                      <a:pt x="755978" y="13408"/>
                      <a:pt x="779845" y="37275"/>
                    </a:cubicBezTo>
                    <a:cubicBezTo>
                      <a:pt x="803712" y="61142"/>
                      <a:pt x="817120" y="93512"/>
                      <a:pt x="817120" y="127264"/>
                    </a:cubicBezTo>
                    <a:lnTo>
                      <a:pt x="817120" y="685536"/>
                    </a:lnTo>
                    <a:cubicBezTo>
                      <a:pt x="817120" y="755822"/>
                      <a:pt x="760142" y="812800"/>
                      <a:pt x="689856" y="812800"/>
                    </a:cubicBezTo>
                    <a:lnTo>
                      <a:pt x="127264" y="812800"/>
                    </a:lnTo>
                    <a:cubicBezTo>
                      <a:pt x="56978" y="812800"/>
                      <a:pt x="0" y="755822"/>
                      <a:pt x="0" y="685536"/>
                    </a:cubicBezTo>
                    <a:lnTo>
                      <a:pt x="0" y="127264"/>
                    </a:lnTo>
                    <a:cubicBezTo>
                      <a:pt x="0" y="56978"/>
                      <a:pt x="56978" y="0"/>
                      <a:pt x="127264" y="0"/>
                    </a:cubicBezTo>
                    <a:close/>
                  </a:path>
                </a:pathLst>
              </a:custGeom>
              <a:solidFill>
                <a:srgbClr val="26874B"/>
              </a:solidFill>
            </p:spPr>
            <p:txBody>
              <a:bodyPr/>
              <a:lstStyle/>
              <a:p>
                <a:endParaRPr lang="id-ID" sz="933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19050"/>
                <a:ext cx="817120" cy="79375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440"/>
                  </a:lnSpc>
                </a:pPr>
                <a:endParaRPr sz="933"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0" y="313962"/>
              <a:ext cx="4136670" cy="3788138"/>
              <a:chOff x="0" y="0"/>
              <a:chExt cx="817120" cy="748274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7120" cy="748274"/>
              </a:xfrm>
              <a:custGeom>
                <a:avLst/>
                <a:gdLst/>
                <a:ahLst/>
                <a:cxnLst/>
                <a:rect l="l" t="t" r="r" b="b"/>
                <a:pathLst>
                  <a:path w="817120" h="748274">
                    <a:moveTo>
                      <a:pt x="127264" y="0"/>
                    </a:moveTo>
                    <a:lnTo>
                      <a:pt x="689856" y="0"/>
                    </a:lnTo>
                    <a:cubicBezTo>
                      <a:pt x="723608" y="0"/>
                      <a:pt x="755978" y="13408"/>
                      <a:pt x="779845" y="37275"/>
                    </a:cubicBezTo>
                    <a:cubicBezTo>
                      <a:pt x="803712" y="61142"/>
                      <a:pt x="817120" y="93512"/>
                      <a:pt x="817120" y="127264"/>
                    </a:cubicBezTo>
                    <a:lnTo>
                      <a:pt x="817120" y="621010"/>
                    </a:lnTo>
                    <a:cubicBezTo>
                      <a:pt x="817120" y="691296"/>
                      <a:pt x="760142" y="748274"/>
                      <a:pt x="689856" y="748274"/>
                    </a:cubicBezTo>
                    <a:lnTo>
                      <a:pt x="127264" y="748274"/>
                    </a:lnTo>
                    <a:cubicBezTo>
                      <a:pt x="56978" y="748274"/>
                      <a:pt x="0" y="691296"/>
                      <a:pt x="0" y="621010"/>
                    </a:cubicBezTo>
                    <a:lnTo>
                      <a:pt x="0" y="127264"/>
                    </a:lnTo>
                    <a:cubicBezTo>
                      <a:pt x="0" y="56978"/>
                      <a:pt x="56978" y="0"/>
                      <a:pt x="12726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rnd">
                <a:solidFill>
                  <a:srgbClr val="298D4E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id-ID" sz="933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19050"/>
                <a:ext cx="817120" cy="729224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440"/>
                  </a:lnSpc>
                </a:pPr>
                <a:endParaRPr sz="1500" dirty="0"/>
              </a:p>
              <a:p>
                <a:pPr algn="ctr">
                  <a:lnSpc>
                    <a:spcPts val="1440"/>
                  </a:lnSpc>
                </a:pPr>
                <a:endParaRPr sz="1500" dirty="0"/>
              </a:p>
              <a:p>
                <a:pPr algn="ctr">
                  <a:lnSpc>
                    <a:spcPts val="1440"/>
                  </a:lnSpc>
                </a:pPr>
                <a:endParaRPr sz="1500" dirty="0"/>
              </a:p>
              <a:p>
                <a:pPr algn="ctr">
                  <a:lnSpc>
                    <a:spcPts val="1440"/>
                  </a:lnSpc>
                </a:pPr>
                <a:endParaRPr sz="1500" dirty="0"/>
              </a:p>
              <a:p>
                <a:pPr algn="ctr">
                  <a:lnSpc>
                    <a:spcPts val="1440"/>
                  </a:lnSpc>
                </a:pPr>
                <a:r>
                  <a:rPr lang="en-US" sz="1500" dirty="0"/>
                  <a:t>Qualitative Analysis</a:t>
                </a:r>
              </a:p>
              <a:p>
                <a:pPr algn="ctr">
                  <a:lnSpc>
                    <a:spcPts val="1440"/>
                  </a:lnSpc>
                </a:pPr>
                <a:r>
                  <a:rPr lang="en-US" sz="1500" dirty="0"/>
                  <a:t>Participant reflections &amp; feedback</a:t>
                </a:r>
              </a:p>
              <a:p>
                <a:pPr algn="ctr">
                  <a:lnSpc>
                    <a:spcPts val="1440"/>
                  </a:lnSpc>
                </a:pPr>
                <a:endParaRPr lang="en-US" sz="1500" dirty="0"/>
              </a:p>
              <a:p>
                <a:pPr algn="ctr">
                  <a:lnSpc>
                    <a:spcPts val="1440"/>
                  </a:lnSpc>
                </a:pPr>
                <a:endParaRPr lang="en-US" sz="1500" dirty="0"/>
              </a:p>
            </p:txBody>
          </p:sp>
        </p:grpSp>
      </p:grpSp>
      <p:sp>
        <p:nvSpPr>
          <p:cNvPr id="39" name="Freeform 39"/>
          <p:cNvSpPr/>
          <p:nvPr/>
        </p:nvSpPr>
        <p:spPr>
          <a:xfrm>
            <a:off x="10171159" y="2729826"/>
            <a:ext cx="581400" cy="581400"/>
          </a:xfrm>
          <a:custGeom>
            <a:avLst/>
            <a:gdLst/>
            <a:ahLst/>
            <a:cxnLst/>
            <a:rect l="l" t="t" r="r" b="b"/>
            <a:pathLst>
              <a:path w="872100" h="872100">
                <a:moveTo>
                  <a:pt x="0" y="0"/>
                </a:moveTo>
                <a:lnTo>
                  <a:pt x="872100" y="0"/>
                </a:lnTo>
                <a:lnTo>
                  <a:pt x="872100" y="872099"/>
                </a:lnTo>
                <a:lnTo>
                  <a:pt x="0" y="8720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d-ID" sz="933"/>
          </a:p>
        </p:txBody>
      </p:sp>
      <p:sp>
        <p:nvSpPr>
          <p:cNvPr id="40" name="TextBox 40"/>
          <p:cNvSpPr txBox="1"/>
          <p:nvPr/>
        </p:nvSpPr>
        <p:spPr>
          <a:xfrm>
            <a:off x="4174608" y="567259"/>
            <a:ext cx="3842785" cy="7247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1" dirty="0">
                <a:latin typeface="Arial Bold"/>
                <a:ea typeface="Arial Bold"/>
                <a:cs typeface="Arial Bold"/>
                <a:sym typeface="Arial Bold"/>
              </a:rPr>
              <a:t>Methodology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462994" y="1810771"/>
            <a:ext cx="2208564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47"/>
              </a:lnSpc>
              <a:spcBef>
                <a:spcPct val="0"/>
              </a:spcBef>
            </a:pPr>
            <a:r>
              <a:rPr lang="en-US" sz="2266" b="1" dirty="0">
                <a:latin typeface="Arial Bold"/>
                <a:ea typeface="Arial Bold"/>
                <a:cs typeface="Arial Bold"/>
                <a:sym typeface="Arial Bold"/>
              </a:rPr>
              <a:t>Our Approach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631422" y="1798764"/>
            <a:ext cx="3842785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47"/>
              </a:lnSpc>
              <a:spcBef>
                <a:spcPct val="0"/>
              </a:spcBef>
            </a:pPr>
            <a:r>
              <a:rPr lang="en-US" sz="2266" b="1" dirty="0">
                <a:latin typeface="Arial Bold"/>
                <a:ea typeface="Arial Bold"/>
                <a:cs typeface="Arial Bold"/>
                <a:sym typeface="Arial Bold"/>
              </a:rPr>
              <a:t>Data Analysis Method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3374596-82FB-1C1C-EA61-951D060F1EA0}"/>
              </a:ext>
            </a:extLst>
          </p:cNvPr>
          <p:cNvSpPr txBox="1"/>
          <p:nvPr/>
        </p:nvSpPr>
        <p:spPr>
          <a:xfrm>
            <a:off x="1050881" y="4858732"/>
            <a:ext cx="60984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d-ID" b="1" dirty="0"/>
              <a:t>Limitations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i="1" dirty="0"/>
              <a:t>Small sample (n=30)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i="1" dirty="0"/>
              <a:t>Short intervention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i="1" dirty="0"/>
              <a:t>Long-term behavioural change not evaluated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6B78419-333E-7506-9526-79E6823CCAE5}"/>
              </a:ext>
            </a:extLst>
          </p:cNvPr>
          <p:cNvGrpSpPr>
            <a:grpSpLocks noChangeAspect="1"/>
          </p:cNvGrpSpPr>
          <p:nvPr/>
        </p:nvGrpSpPr>
        <p:grpSpPr>
          <a:xfrm>
            <a:off x="10217527" y="6140020"/>
            <a:ext cx="1181336" cy="523413"/>
            <a:chOff x="0" y="0"/>
            <a:chExt cx="2362672" cy="1046826"/>
          </a:xfrm>
        </p:grpSpPr>
        <p:sp>
          <p:nvSpPr>
            <p:cNvPr id="3" name="Freeform 3" descr="A black and green sign with a couple of heads  Description automatically generated">
              <a:extLst>
                <a:ext uri="{FF2B5EF4-FFF2-40B4-BE49-F238E27FC236}">
                  <a16:creationId xmlns:a16="http://schemas.microsoft.com/office/drawing/2014/main" id="{B6CC6475-36F1-D1E3-F552-D3259C777A2B}"/>
                </a:ext>
              </a:extLst>
            </p:cNvPr>
            <p:cNvSpPr/>
            <p:nvPr/>
          </p:nvSpPr>
          <p:spPr>
            <a:xfrm>
              <a:off x="0" y="0"/>
              <a:ext cx="2362708" cy="1046861"/>
            </a:xfrm>
            <a:custGeom>
              <a:avLst/>
              <a:gdLst/>
              <a:ahLst/>
              <a:cxnLst/>
              <a:rect l="l" t="t" r="r" b="b"/>
              <a:pathLst>
                <a:path w="2362708" h="1046861">
                  <a:moveTo>
                    <a:pt x="0" y="0"/>
                  </a:moveTo>
                  <a:lnTo>
                    <a:pt x="2362708" y="0"/>
                  </a:lnTo>
                  <a:lnTo>
                    <a:pt x="2362708" y="1046861"/>
                  </a:lnTo>
                  <a:lnTo>
                    <a:pt x="0" y="1046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62" r="1" b="-159"/>
              </a:stretch>
            </a:blipFill>
          </p:spPr>
          <p:txBody>
            <a:bodyPr/>
            <a:lstStyle/>
            <a:p>
              <a:endParaRPr lang="id-ID" sz="933"/>
            </a:p>
          </p:txBody>
        </p:sp>
      </p:grpSp>
      <p:grpSp>
        <p:nvGrpSpPr>
          <p:cNvPr id="43" name="Group 26">
            <a:extLst>
              <a:ext uri="{FF2B5EF4-FFF2-40B4-BE49-F238E27FC236}">
                <a16:creationId xmlns:a16="http://schemas.microsoft.com/office/drawing/2014/main" id="{3C25D8EC-57D6-A7A6-F6AC-0292EF4A5496}"/>
              </a:ext>
            </a:extLst>
          </p:cNvPr>
          <p:cNvGrpSpPr>
            <a:grpSpLocks noChangeAspect="1"/>
          </p:cNvGrpSpPr>
          <p:nvPr/>
        </p:nvGrpSpPr>
        <p:grpSpPr>
          <a:xfrm>
            <a:off x="9004111" y="391598"/>
            <a:ext cx="2502089" cy="351321"/>
            <a:chOff x="0" y="0"/>
            <a:chExt cx="7739614" cy="1086727"/>
          </a:xfrm>
        </p:grpSpPr>
        <p:sp>
          <p:nvSpPr>
            <p:cNvPr id="45" name="Freeform 27">
              <a:extLst>
                <a:ext uri="{FF2B5EF4-FFF2-40B4-BE49-F238E27FC236}">
                  <a16:creationId xmlns:a16="http://schemas.microsoft.com/office/drawing/2014/main" id="{F46FDF47-76BC-ACAB-FA3B-215196B48A85}"/>
                </a:ext>
              </a:extLst>
            </p:cNvPr>
            <p:cNvSpPr/>
            <p:nvPr/>
          </p:nvSpPr>
          <p:spPr>
            <a:xfrm>
              <a:off x="0" y="0"/>
              <a:ext cx="7739634" cy="1086739"/>
            </a:xfrm>
            <a:custGeom>
              <a:avLst/>
              <a:gdLst/>
              <a:ahLst/>
              <a:cxnLst/>
              <a:rect l="l" t="t" r="r" b="b"/>
              <a:pathLst>
                <a:path w="7739634" h="1086739">
                  <a:moveTo>
                    <a:pt x="0" y="0"/>
                  </a:moveTo>
                  <a:lnTo>
                    <a:pt x="7739634" y="0"/>
                  </a:lnTo>
                  <a:lnTo>
                    <a:pt x="7739634" y="1086739"/>
                  </a:lnTo>
                  <a:lnTo>
                    <a:pt x="0" y="108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86" b="-285"/>
              </a:stretch>
            </a:blipFill>
          </p:spPr>
          <p:txBody>
            <a:bodyPr/>
            <a:lstStyle/>
            <a:p>
              <a:endParaRPr lang="id-ID" sz="933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79200" y="-880533"/>
            <a:ext cx="1422400" cy="1422400"/>
            <a:chOff x="0" y="0"/>
            <a:chExt cx="2844800" cy="2844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4800" cy="2844800"/>
            </a:xfrm>
            <a:custGeom>
              <a:avLst/>
              <a:gdLst/>
              <a:ahLst/>
              <a:cxnLst/>
              <a:rect l="l" t="t" r="r" b="b"/>
              <a:pathLst>
                <a:path w="2844800" h="2844800">
                  <a:moveTo>
                    <a:pt x="0" y="1422400"/>
                  </a:moveTo>
                  <a:cubicBezTo>
                    <a:pt x="0" y="636778"/>
                    <a:pt x="636778" y="0"/>
                    <a:pt x="1422400" y="0"/>
                  </a:cubicBezTo>
                  <a:cubicBezTo>
                    <a:pt x="2208022" y="0"/>
                    <a:pt x="2844800" y="636778"/>
                    <a:pt x="2844800" y="1422400"/>
                  </a:cubicBezTo>
                  <a:cubicBezTo>
                    <a:pt x="2844800" y="2208022"/>
                    <a:pt x="2208022" y="2844800"/>
                    <a:pt x="1422400" y="2844800"/>
                  </a:cubicBezTo>
                  <a:cubicBezTo>
                    <a:pt x="636778" y="2844800"/>
                    <a:pt x="0" y="2208022"/>
                    <a:pt x="0" y="1422400"/>
                  </a:cubicBezTo>
                  <a:close/>
                </a:path>
              </a:pathLst>
            </a:custGeom>
            <a:solidFill>
              <a:srgbClr val="FCB715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d-ID" sz="933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355600" y="5842001"/>
            <a:ext cx="1422400" cy="1422400"/>
            <a:chOff x="0" y="0"/>
            <a:chExt cx="2844800" cy="2844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44800" cy="2844800"/>
            </a:xfrm>
            <a:custGeom>
              <a:avLst/>
              <a:gdLst/>
              <a:ahLst/>
              <a:cxnLst/>
              <a:rect l="l" t="t" r="r" b="b"/>
              <a:pathLst>
                <a:path w="2844800" h="2844800">
                  <a:moveTo>
                    <a:pt x="0" y="1422400"/>
                  </a:moveTo>
                  <a:cubicBezTo>
                    <a:pt x="0" y="636778"/>
                    <a:pt x="636778" y="0"/>
                    <a:pt x="1422400" y="0"/>
                  </a:cubicBezTo>
                  <a:cubicBezTo>
                    <a:pt x="2208022" y="0"/>
                    <a:pt x="2844800" y="636778"/>
                    <a:pt x="2844800" y="1422400"/>
                  </a:cubicBezTo>
                  <a:cubicBezTo>
                    <a:pt x="2844800" y="2208022"/>
                    <a:pt x="2208022" y="2844800"/>
                    <a:pt x="1422400" y="2844800"/>
                  </a:cubicBezTo>
                  <a:cubicBezTo>
                    <a:pt x="636778" y="2844800"/>
                    <a:pt x="0" y="2208022"/>
                    <a:pt x="0" y="1422400"/>
                  </a:cubicBezTo>
                  <a:close/>
                </a:path>
              </a:pathLst>
            </a:custGeom>
            <a:solidFill>
              <a:srgbClr val="FCB715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d-ID" sz="933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04800" y="6146800"/>
            <a:ext cx="1422400" cy="1422400"/>
            <a:chOff x="0" y="0"/>
            <a:chExt cx="2844800" cy="2844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44800" cy="2844800"/>
            </a:xfrm>
            <a:custGeom>
              <a:avLst/>
              <a:gdLst/>
              <a:ahLst/>
              <a:cxnLst/>
              <a:rect l="l" t="t" r="r" b="b"/>
              <a:pathLst>
                <a:path w="2844800" h="2844800">
                  <a:moveTo>
                    <a:pt x="0" y="1422400"/>
                  </a:moveTo>
                  <a:cubicBezTo>
                    <a:pt x="0" y="636778"/>
                    <a:pt x="636778" y="0"/>
                    <a:pt x="1422400" y="0"/>
                  </a:cubicBezTo>
                  <a:cubicBezTo>
                    <a:pt x="2208022" y="0"/>
                    <a:pt x="2844800" y="636778"/>
                    <a:pt x="2844800" y="1422400"/>
                  </a:cubicBezTo>
                  <a:cubicBezTo>
                    <a:pt x="2844800" y="2208022"/>
                    <a:pt x="2208022" y="2844800"/>
                    <a:pt x="1422400" y="2844800"/>
                  </a:cubicBezTo>
                  <a:cubicBezTo>
                    <a:pt x="636778" y="2844800"/>
                    <a:pt x="0" y="2208022"/>
                    <a:pt x="0" y="142240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d-ID" sz="933"/>
            </a:p>
          </p:txBody>
        </p:sp>
      </p:grpSp>
      <p:sp>
        <p:nvSpPr>
          <p:cNvPr id="8" name="Freeform 8"/>
          <p:cNvSpPr/>
          <p:nvPr/>
        </p:nvSpPr>
        <p:spPr>
          <a:xfrm>
            <a:off x="1262633" y="1886884"/>
            <a:ext cx="3083041" cy="4078354"/>
          </a:xfrm>
          <a:custGeom>
            <a:avLst/>
            <a:gdLst/>
            <a:ahLst/>
            <a:cxnLst/>
            <a:rect l="l" t="t" r="r" b="b"/>
            <a:pathLst>
              <a:path w="4624562" h="6117531">
                <a:moveTo>
                  <a:pt x="0" y="0"/>
                </a:moveTo>
                <a:lnTo>
                  <a:pt x="4624562" y="0"/>
                </a:lnTo>
                <a:lnTo>
                  <a:pt x="4624562" y="6117531"/>
                </a:lnTo>
                <a:lnTo>
                  <a:pt x="0" y="61175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d-ID" sz="933"/>
          </a:p>
        </p:txBody>
      </p:sp>
      <p:sp>
        <p:nvSpPr>
          <p:cNvPr id="9" name="TextBox 9"/>
          <p:cNvSpPr txBox="1"/>
          <p:nvPr/>
        </p:nvSpPr>
        <p:spPr>
          <a:xfrm>
            <a:off x="4715985" y="2178984"/>
            <a:ext cx="6790215" cy="2423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45"/>
              </a:lnSpc>
              <a:spcBef>
                <a:spcPct val="0"/>
              </a:spcBef>
            </a:pPr>
            <a:r>
              <a:rPr lang="en-US" sz="1986" b="1" dirty="0">
                <a:latin typeface="Montserrat Bold"/>
                <a:ea typeface="Montserrat Bold"/>
                <a:cs typeface="Montserrat Bold"/>
                <a:sym typeface="Montserrat Bold"/>
              </a:rPr>
              <a:t>Hybrid model: </a:t>
            </a:r>
          </a:p>
          <a:p>
            <a:pPr>
              <a:lnSpc>
                <a:spcPts val="2145"/>
              </a:lnSpc>
              <a:spcBef>
                <a:spcPct val="0"/>
              </a:spcBef>
            </a:pPr>
            <a:r>
              <a:rPr lang="en-US" sz="1986" b="1" dirty="0">
                <a:latin typeface="Montserrat Bold"/>
                <a:ea typeface="Montserrat Bold"/>
                <a:cs typeface="Montserrat Bold"/>
                <a:sym typeface="Montserrat Bold"/>
              </a:rPr>
              <a:t>Climate education workshop + digital storytelling </a:t>
            </a:r>
          </a:p>
          <a:p>
            <a:pPr>
              <a:lnSpc>
                <a:spcPts val="2145"/>
              </a:lnSpc>
              <a:spcBef>
                <a:spcPct val="0"/>
              </a:spcBef>
            </a:pPr>
            <a:endParaRPr lang="en-US" sz="1986" b="1" dirty="0"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428859" lvl="1" indent="-214429">
              <a:lnSpc>
                <a:spcPts val="2145"/>
              </a:lnSpc>
              <a:buFont typeface="Arial"/>
              <a:buChar char="•"/>
            </a:pPr>
            <a:r>
              <a:rPr lang="en-US" sz="1986" b="1" dirty="0">
                <a:latin typeface="Montserrat Bold"/>
                <a:ea typeface="Montserrat Bold"/>
                <a:cs typeface="Montserrat Bold"/>
                <a:sym typeface="Montserrat Bold"/>
              </a:rPr>
              <a:t>Online workshop on carbon footprint awareness &amp; video creation</a:t>
            </a:r>
          </a:p>
          <a:p>
            <a:pPr marL="428859" lvl="1" indent="-214429">
              <a:lnSpc>
                <a:spcPts val="2145"/>
              </a:lnSpc>
              <a:buFont typeface="Arial"/>
              <a:buChar char="•"/>
            </a:pPr>
            <a:r>
              <a:rPr lang="en-US" sz="1986" b="1" dirty="0">
                <a:latin typeface="Montserrat Bold"/>
                <a:ea typeface="Montserrat Bold"/>
                <a:cs typeface="Montserrat Bold"/>
                <a:sym typeface="Montserrat Bold"/>
              </a:rPr>
              <a:t>Youth-led vlog production challenge</a:t>
            </a:r>
          </a:p>
          <a:p>
            <a:pPr marL="428859" lvl="1" indent="-214429">
              <a:lnSpc>
                <a:spcPts val="2145"/>
              </a:lnSpc>
              <a:buFont typeface="Arial"/>
              <a:buChar char="•"/>
            </a:pPr>
            <a:r>
              <a:rPr lang="en-US" sz="1986" b="1" dirty="0">
                <a:latin typeface="Montserrat Bold"/>
                <a:ea typeface="Montserrat Bold"/>
                <a:cs typeface="Montserrat Bold"/>
                <a:sym typeface="Montserrat Bold"/>
              </a:rPr>
              <a:t>Peer-to-peer knowledge sharing at scale</a:t>
            </a:r>
          </a:p>
          <a:p>
            <a:pPr marL="428859" lvl="1" indent="-214429">
              <a:lnSpc>
                <a:spcPts val="2145"/>
              </a:lnSpc>
              <a:buFont typeface="Arial"/>
              <a:buChar char="•"/>
            </a:pPr>
            <a:r>
              <a:rPr lang="en-US" sz="1986" b="1" dirty="0">
                <a:latin typeface="Montserrat Bold"/>
                <a:ea typeface="Montserrat Bold"/>
                <a:cs typeface="Montserrat Bold"/>
                <a:sym typeface="Montserrat Bold"/>
              </a:rPr>
              <a:t>Low-cost, replicable model for local governments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836497" y="4938313"/>
            <a:ext cx="5166972" cy="556335"/>
            <a:chOff x="0" y="0"/>
            <a:chExt cx="797705" cy="858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97705" cy="85890"/>
            </a:xfrm>
            <a:custGeom>
              <a:avLst/>
              <a:gdLst/>
              <a:ahLst/>
              <a:cxnLst/>
              <a:rect l="l" t="t" r="r" b="b"/>
              <a:pathLst>
                <a:path w="797705" h="85890">
                  <a:moveTo>
                    <a:pt x="21071" y="0"/>
                  </a:moveTo>
                  <a:lnTo>
                    <a:pt x="776634" y="0"/>
                  </a:lnTo>
                  <a:cubicBezTo>
                    <a:pt x="788271" y="0"/>
                    <a:pt x="797705" y="9434"/>
                    <a:pt x="797705" y="21071"/>
                  </a:cubicBezTo>
                  <a:lnTo>
                    <a:pt x="797705" y="64820"/>
                  </a:lnTo>
                  <a:cubicBezTo>
                    <a:pt x="797705" y="76456"/>
                    <a:pt x="788271" y="85890"/>
                    <a:pt x="776634" y="85890"/>
                  </a:cubicBezTo>
                  <a:lnTo>
                    <a:pt x="21071" y="85890"/>
                  </a:lnTo>
                  <a:cubicBezTo>
                    <a:pt x="9434" y="85890"/>
                    <a:pt x="0" y="76456"/>
                    <a:pt x="0" y="64820"/>
                  </a:cubicBezTo>
                  <a:lnTo>
                    <a:pt x="0" y="21071"/>
                  </a:lnTo>
                  <a:cubicBezTo>
                    <a:pt x="0" y="9434"/>
                    <a:pt x="9434" y="0"/>
                    <a:pt x="21071" y="0"/>
                  </a:cubicBezTo>
                  <a:close/>
                </a:path>
              </a:pathLst>
            </a:custGeom>
            <a:solidFill>
              <a:srgbClr val="E1FFBA"/>
            </a:solidFill>
          </p:spPr>
          <p:txBody>
            <a:bodyPr/>
            <a:lstStyle/>
            <a:p>
              <a:endParaRPr lang="id-ID" sz="933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9050"/>
              <a:ext cx="797705" cy="66840"/>
            </a:xfrm>
            <a:prstGeom prst="rect">
              <a:avLst/>
            </a:prstGeom>
          </p:spPr>
          <p:txBody>
            <a:bodyPr lIns="36726" tIns="36726" rIns="36726" bIns="36726" rtlCol="0" anchor="ctr"/>
            <a:lstStyle/>
            <a:p>
              <a:pPr algn="ctr">
                <a:lnSpc>
                  <a:spcPts val="1440"/>
                </a:lnSpc>
              </a:pPr>
              <a:endParaRPr sz="933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78752" y="669080"/>
            <a:ext cx="6733846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82"/>
              </a:lnSpc>
            </a:pPr>
            <a:r>
              <a:rPr lang="en-US" sz="4376" b="1" dirty="0">
                <a:latin typeface="Arial Bold"/>
                <a:ea typeface="Arial Bold"/>
                <a:cs typeface="Arial Bold"/>
                <a:sym typeface="Arial Bold"/>
              </a:rPr>
              <a:t>The Innovation: Carbon Vlogger Challenge 2025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62946" y="5036984"/>
            <a:ext cx="5040523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23"/>
              </a:lnSpc>
              <a:spcBef>
                <a:spcPct val="0"/>
              </a:spcBef>
            </a:pPr>
            <a:r>
              <a:rPr lang="en-US" sz="1411" b="1" i="1">
                <a:solidFill>
                  <a:srgbClr val="3B3B3B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Bottom-up approach using creative communication as both educational tool and catalyst for change</a:t>
            </a:r>
          </a:p>
        </p:txBody>
      </p:sp>
      <p:grpSp>
        <p:nvGrpSpPr>
          <p:cNvPr id="15" name="Group 2">
            <a:extLst>
              <a:ext uri="{FF2B5EF4-FFF2-40B4-BE49-F238E27FC236}">
                <a16:creationId xmlns:a16="http://schemas.microsoft.com/office/drawing/2014/main" id="{24AE2FD4-CE27-84DE-1611-E46CC78253A4}"/>
              </a:ext>
            </a:extLst>
          </p:cNvPr>
          <p:cNvGrpSpPr>
            <a:grpSpLocks noChangeAspect="1"/>
          </p:cNvGrpSpPr>
          <p:nvPr/>
        </p:nvGrpSpPr>
        <p:grpSpPr>
          <a:xfrm>
            <a:off x="10705864" y="6146800"/>
            <a:ext cx="1181336" cy="523413"/>
            <a:chOff x="0" y="0"/>
            <a:chExt cx="2362672" cy="1046826"/>
          </a:xfrm>
        </p:grpSpPr>
        <p:sp>
          <p:nvSpPr>
            <p:cNvPr id="16" name="Freeform 3" descr="A black and green sign with a couple of heads  Description automatically generated">
              <a:extLst>
                <a:ext uri="{FF2B5EF4-FFF2-40B4-BE49-F238E27FC236}">
                  <a16:creationId xmlns:a16="http://schemas.microsoft.com/office/drawing/2014/main" id="{89F9DCC6-89D3-51E9-8307-8DD95BCEBE05}"/>
                </a:ext>
              </a:extLst>
            </p:cNvPr>
            <p:cNvSpPr/>
            <p:nvPr/>
          </p:nvSpPr>
          <p:spPr>
            <a:xfrm>
              <a:off x="0" y="0"/>
              <a:ext cx="2362708" cy="1046861"/>
            </a:xfrm>
            <a:custGeom>
              <a:avLst/>
              <a:gdLst/>
              <a:ahLst/>
              <a:cxnLst/>
              <a:rect l="l" t="t" r="r" b="b"/>
              <a:pathLst>
                <a:path w="2362708" h="1046861">
                  <a:moveTo>
                    <a:pt x="0" y="0"/>
                  </a:moveTo>
                  <a:lnTo>
                    <a:pt x="2362708" y="0"/>
                  </a:lnTo>
                  <a:lnTo>
                    <a:pt x="2362708" y="1046861"/>
                  </a:lnTo>
                  <a:lnTo>
                    <a:pt x="0" y="1046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62" r="1" b="-159"/>
              </a:stretch>
            </a:blipFill>
          </p:spPr>
          <p:txBody>
            <a:bodyPr/>
            <a:lstStyle/>
            <a:p>
              <a:endParaRPr lang="id-ID" sz="933"/>
            </a:p>
          </p:txBody>
        </p:sp>
      </p:grpSp>
      <p:grpSp>
        <p:nvGrpSpPr>
          <p:cNvPr id="17" name="Group 26">
            <a:extLst>
              <a:ext uri="{FF2B5EF4-FFF2-40B4-BE49-F238E27FC236}">
                <a16:creationId xmlns:a16="http://schemas.microsoft.com/office/drawing/2014/main" id="{CBAD7D5A-A34E-F355-140B-3907C9B51D23}"/>
              </a:ext>
            </a:extLst>
          </p:cNvPr>
          <p:cNvGrpSpPr>
            <a:grpSpLocks noChangeAspect="1"/>
          </p:cNvGrpSpPr>
          <p:nvPr/>
        </p:nvGrpSpPr>
        <p:grpSpPr>
          <a:xfrm>
            <a:off x="1727200" y="6325895"/>
            <a:ext cx="2502089" cy="351321"/>
            <a:chOff x="0" y="0"/>
            <a:chExt cx="7739614" cy="1086727"/>
          </a:xfrm>
        </p:grpSpPr>
        <p:sp>
          <p:nvSpPr>
            <p:cNvPr id="18" name="Freeform 27">
              <a:extLst>
                <a:ext uri="{FF2B5EF4-FFF2-40B4-BE49-F238E27FC236}">
                  <a16:creationId xmlns:a16="http://schemas.microsoft.com/office/drawing/2014/main" id="{6E459056-D277-2054-FF2E-9ACA62403DB2}"/>
                </a:ext>
              </a:extLst>
            </p:cNvPr>
            <p:cNvSpPr/>
            <p:nvPr/>
          </p:nvSpPr>
          <p:spPr>
            <a:xfrm>
              <a:off x="0" y="0"/>
              <a:ext cx="7739634" cy="1086739"/>
            </a:xfrm>
            <a:custGeom>
              <a:avLst/>
              <a:gdLst/>
              <a:ahLst/>
              <a:cxnLst/>
              <a:rect l="l" t="t" r="r" b="b"/>
              <a:pathLst>
                <a:path w="7739634" h="1086739">
                  <a:moveTo>
                    <a:pt x="0" y="0"/>
                  </a:moveTo>
                  <a:lnTo>
                    <a:pt x="7739634" y="0"/>
                  </a:lnTo>
                  <a:lnTo>
                    <a:pt x="7739634" y="1086739"/>
                  </a:lnTo>
                  <a:lnTo>
                    <a:pt x="0" y="108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86" b="-285"/>
              </a:stretch>
            </a:blipFill>
          </p:spPr>
          <p:txBody>
            <a:bodyPr/>
            <a:lstStyle/>
            <a:p>
              <a:endParaRPr lang="id-ID" sz="933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2835555" y="2076016"/>
            <a:ext cx="3027447" cy="1278128"/>
            <a:chOff x="0" y="0"/>
            <a:chExt cx="6054894" cy="2556256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6054894" cy="2556256"/>
              <a:chOff x="0" y="0"/>
              <a:chExt cx="934397" cy="39448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934397" cy="394484"/>
              </a:xfrm>
              <a:custGeom>
                <a:avLst/>
                <a:gdLst/>
                <a:ahLst/>
                <a:cxnLst/>
                <a:rect l="l" t="t" r="r" b="b"/>
                <a:pathLst>
                  <a:path w="934397" h="394484">
                    <a:moveTo>
                      <a:pt x="33297" y="0"/>
                    </a:moveTo>
                    <a:lnTo>
                      <a:pt x="901100" y="0"/>
                    </a:lnTo>
                    <a:cubicBezTo>
                      <a:pt x="919489" y="0"/>
                      <a:pt x="934397" y="14908"/>
                      <a:pt x="934397" y="33297"/>
                    </a:cubicBezTo>
                    <a:lnTo>
                      <a:pt x="934397" y="361186"/>
                    </a:lnTo>
                    <a:cubicBezTo>
                      <a:pt x="934397" y="370018"/>
                      <a:pt x="930889" y="378487"/>
                      <a:pt x="924645" y="384731"/>
                    </a:cubicBezTo>
                    <a:cubicBezTo>
                      <a:pt x="918400" y="390976"/>
                      <a:pt x="909931" y="394484"/>
                      <a:pt x="901100" y="394484"/>
                    </a:cubicBezTo>
                    <a:lnTo>
                      <a:pt x="33297" y="394484"/>
                    </a:lnTo>
                    <a:cubicBezTo>
                      <a:pt x="14908" y="394484"/>
                      <a:pt x="0" y="379576"/>
                      <a:pt x="0" y="361186"/>
                    </a:cubicBezTo>
                    <a:lnTo>
                      <a:pt x="0" y="33297"/>
                    </a:lnTo>
                    <a:cubicBezTo>
                      <a:pt x="0" y="24466"/>
                      <a:pt x="3508" y="15997"/>
                      <a:pt x="9753" y="9753"/>
                    </a:cubicBezTo>
                    <a:cubicBezTo>
                      <a:pt x="15997" y="3508"/>
                      <a:pt x="24466" y="0"/>
                      <a:pt x="33297" y="0"/>
                    </a:cubicBezTo>
                    <a:close/>
                  </a:path>
                </a:pathLst>
              </a:custGeom>
              <a:solidFill>
                <a:srgbClr val="FFBE14"/>
              </a:solidFill>
            </p:spPr>
            <p:txBody>
              <a:bodyPr/>
              <a:lstStyle/>
              <a:p>
                <a:endParaRPr lang="id-ID" sz="933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19050"/>
                <a:ext cx="934397" cy="375434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440"/>
                  </a:lnSpc>
                </a:pPr>
                <a:endParaRPr sz="933"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531284" y="399924"/>
              <a:ext cx="4992330" cy="18210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79"/>
                </a:lnSpc>
                <a:spcBef>
                  <a:spcPct val="0"/>
                </a:spcBef>
              </a:pPr>
              <a:r>
                <a:rPr lang="en-US" sz="2666" b="1">
                  <a:latin typeface="Montserrat Bold"/>
                  <a:ea typeface="Montserrat Bold"/>
                  <a:cs typeface="Montserrat Bold"/>
                  <a:sym typeface="Montserrat Bold"/>
                </a:rPr>
                <a:t>14.7%</a:t>
              </a:r>
            </a:p>
            <a:p>
              <a:pPr algn="ctr">
                <a:lnSpc>
                  <a:spcPts val="1440"/>
                </a:lnSpc>
                <a:spcBef>
                  <a:spcPct val="0"/>
                </a:spcBef>
              </a:pPr>
              <a:r>
                <a:rPr lang="en-US" sz="1333">
                  <a:latin typeface="Montserrat"/>
                  <a:ea typeface="Montserrat"/>
                  <a:cs typeface="Montserrat"/>
                  <a:sym typeface="Montserrat"/>
                </a:rPr>
                <a:t>Average Knowledge Increase</a:t>
              </a:r>
            </a:p>
            <a:p>
              <a:pPr algn="ctr">
                <a:lnSpc>
                  <a:spcPts val="1440"/>
                </a:lnSpc>
                <a:spcBef>
                  <a:spcPct val="0"/>
                </a:spcBef>
              </a:pPr>
              <a:r>
                <a:rPr lang="en-US" sz="1333">
                  <a:latin typeface="Montserrat"/>
                  <a:ea typeface="Montserrat"/>
                  <a:cs typeface="Montserrat"/>
                  <a:sym typeface="Montserrat"/>
                </a:rPr>
                <a:t>in carbon footprint understanding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843729" y="3783320"/>
            <a:ext cx="3019272" cy="1536822"/>
            <a:chOff x="0" y="0"/>
            <a:chExt cx="6038545" cy="3073645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6038545" cy="3073645"/>
              <a:chOff x="0" y="0"/>
              <a:chExt cx="859322" cy="437398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59322" cy="437398"/>
              </a:xfrm>
              <a:custGeom>
                <a:avLst/>
                <a:gdLst/>
                <a:ahLst/>
                <a:cxnLst/>
                <a:rect l="l" t="t" r="r" b="b"/>
                <a:pathLst>
                  <a:path w="859322" h="437398">
                    <a:moveTo>
                      <a:pt x="36207" y="0"/>
                    </a:moveTo>
                    <a:lnTo>
                      <a:pt x="823115" y="0"/>
                    </a:lnTo>
                    <a:cubicBezTo>
                      <a:pt x="843112" y="0"/>
                      <a:pt x="859322" y="16210"/>
                      <a:pt x="859322" y="36207"/>
                    </a:cubicBezTo>
                    <a:lnTo>
                      <a:pt x="859322" y="401192"/>
                    </a:lnTo>
                    <a:cubicBezTo>
                      <a:pt x="859322" y="410794"/>
                      <a:pt x="855507" y="420004"/>
                      <a:pt x="848717" y="426794"/>
                    </a:cubicBezTo>
                    <a:cubicBezTo>
                      <a:pt x="841927" y="433584"/>
                      <a:pt x="832718" y="437398"/>
                      <a:pt x="823115" y="437398"/>
                    </a:cubicBezTo>
                    <a:lnTo>
                      <a:pt x="36207" y="437398"/>
                    </a:lnTo>
                    <a:cubicBezTo>
                      <a:pt x="26604" y="437398"/>
                      <a:pt x="17395" y="433584"/>
                      <a:pt x="10605" y="426794"/>
                    </a:cubicBezTo>
                    <a:cubicBezTo>
                      <a:pt x="3815" y="420004"/>
                      <a:pt x="0" y="410794"/>
                      <a:pt x="0" y="401192"/>
                    </a:cubicBezTo>
                    <a:lnTo>
                      <a:pt x="0" y="36207"/>
                    </a:lnTo>
                    <a:cubicBezTo>
                      <a:pt x="0" y="26604"/>
                      <a:pt x="3815" y="17395"/>
                      <a:pt x="10605" y="10605"/>
                    </a:cubicBezTo>
                    <a:cubicBezTo>
                      <a:pt x="17395" y="3815"/>
                      <a:pt x="26604" y="0"/>
                      <a:pt x="36207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  <p:txBody>
              <a:bodyPr/>
              <a:lstStyle/>
              <a:p>
                <a:endParaRPr lang="id-ID" sz="933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19050"/>
                <a:ext cx="859322" cy="418348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440"/>
                  </a:lnSpc>
                </a:pPr>
                <a:endParaRPr sz="933"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529848" y="429666"/>
              <a:ext cx="4978847" cy="2333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79"/>
                </a:lnSpc>
                <a:spcBef>
                  <a:spcPct val="0"/>
                </a:spcBef>
              </a:pPr>
              <a:r>
                <a:rPr lang="en-US" sz="2666" b="1">
                  <a:latin typeface="Montserrat Bold"/>
                  <a:ea typeface="Montserrat Bold"/>
                  <a:cs typeface="Montserrat Bold"/>
                  <a:sym typeface="Montserrat Bold"/>
                </a:rPr>
                <a:t>0.38</a:t>
              </a:r>
            </a:p>
            <a:p>
              <a:pPr algn="ctr">
                <a:lnSpc>
                  <a:spcPts val="1561"/>
                </a:lnSpc>
                <a:spcBef>
                  <a:spcPct val="0"/>
                </a:spcBef>
              </a:pPr>
              <a:r>
                <a:rPr lang="en-US" sz="1445">
                  <a:latin typeface="Montserrat"/>
                  <a:ea typeface="Montserrat"/>
                  <a:cs typeface="Montserrat"/>
                  <a:sym typeface="Montserrat"/>
                </a:rPr>
                <a:t>N-Gain Score</a:t>
              </a:r>
            </a:p>
            <a:p>
              <a:pPr algn="ctr">
                <a:lnSpc>
                  <a:spcPts val="1561"/>
                </a:lnSpc>
                <a:spcBef>
                  <a:spcPct val="0"/>
                </a:spcBef>
              </a:pPr>
              <a:r>
                <a:rPr lang="en-US" sz="1445">
                  <a:latin typeface="Montserrat"/>
                  <a:ea typeface="Montserrat"/>
                  <a:cs typeface="Montserrat"/>
                  <a:sym typeface="Montserrat"/>
                </a:rPr>
                <a:t>Medium effectiveness </a:t>
              </a:r>
            </a:p>
            <a:p>
              <a:pPr algn="ctr">
                <a:lnSpc>
                  <a:spcPts val="1489"/>
                </a:lnSpc>
                <a:spcBef>
                  <a:spcPct val="0"/>
                </a:spcBef>
              </a:pPr>
              <a:r>
                <a:rPr lang="en-US" sz="1379">
                  <a:solidFill>
                    <a:srgbClr val="29292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(Hake 1998; Colleta &amp; Steinert 2020)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379200" y="-736600"/>
            <a:ext cx="1422400" cy="1422400"/>
            <a:chOff x="0" y="0"/>
            <a:chExt cx="2844800" cy="2844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844800" cy="2844800"/>
            </a:xfrm>
            <a:custGeom>
              <a:avLst/>
              <a:gdLst/>
              <a:ahLst/>
              <a:cxnLst/>
              <a:rect l="l" t="t" r="r" b="b"/>
              <a:pathLst>
                <a:path w="2844800" h="2844800">
                  <a:moveTo>
                    <a:pt x="0" y="1422400"/>
                  </a:moveTo>
                  <a:cubicBezTo>
                    <a:pt x="0" y="636778"/>
                    <a:pt x="636778" y="0"/>
                    <a:pt x="1422400" y="0"/>
                  </a:cubicBezTo>
                  <a:cubicBezTo>
                    <a:pt x="2208022" y="0"/>
                    <a:pt x="2844800" y="636778"/>
                    <a:pt x="2844800" y="1422400"/>
                  </a:cubicBezTo>
                  <a:cubicBezTo>
                    <a:pt x="2844800" y="2208022"/>
                    <a:pt x="2208022" y="2844800"/>
                    <a:pt x="1422400" y="2844800"/>
                  </a:cubicBezTo>
                  <a:cubicBezTo>
                    <a:pt x="636778" y="2844800"/>
                    <a:pt x="0" y="2208022"/>
                    <a:pt x="0" y="1422400"/>
                  </a:cubicBezTo>
                  <a:close/>
                </a:path>
              </a:pathLst>
            </a:custGeom>
            <a:solidFill>
              <a:srgbClr val="FCB715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d-ID" sz="933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355600" y="5842001"/>
            <a:ext cx="1422400" cy="1422400"/>
            <a:chOff x="0" y="0"/>
            <a:chExt cx="2844800" cy="2844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844800" cy="2844800"/>
            </a:xfrm>
            <a:custGeom>
              <a:avLst/>
              <a:gdLst/>
              <a:ahLst/>
              <a:cxnLst/>
              <a:rect l="l" t="t" r="r" b="b"/>
              <a:pathLst>
                <a:path w="2844800" h="2844800">
                  <a:moveTo>
                    <a:pt x="0" y="1422400"/>
                  </a:moveTo>
                  <a:cubicBezTo>
                    <a:pt x="0" y="636778"/>
                    <a:pt x="636778" y="0"/>
                    <a:pt x="1422400" y="0"/>
                  </a:cubicBezTo>
                  <a:cubicBezTo>
                    <a:pt x="2208022" y="0"/>
                    <a:pt x="2844800" y="636778"/>
                    <a:pt x="2844800" y="1422400"/>
                  </a:cubicBezTo>
                  <a:cubicBezTo>
                    <a:pt x="2844800" y="2208022"/>
                    <a:pt x="2208022" y="2844800"/>
                    <a:pt x="1422400" y="2844800"/>
                  </a:cubicBezTo>
                  <a:cubicBezTo>
                    <a:pt x="636778" y="2844800"/>
                    <a:pt x="0" y="2208022"/>
                    <a:pt x="0" y="1422400"/>
                  </a:cubicBezTo>
                  <a:close/>
                </a:path>
              </a:pathLst>
            </a:custGeom>
            <a:solidFill>
              <a:srgbClr val="FCB715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d-ID" sz="933"/>
            </a:p>
          </p:txBody>
        </p:sp>
      </p:grpSp>
      <p:sp>
        <p:nvSpPr>
          <p:cNvPr id="24" name="TextBox 27">
            <a:extLst>
              <a:ext uri="{FF2B5EF4-FFF2-40B4-BE49-F238E27FC236}">
                <a16:creationId xmlns:a16="http://schemas.microsoft.com/office/drawing/2014/main" id="{212BACCE-DAF8-2A34-DEE4-3CA1C549E9DD}"/>
              </a:ext>
            </a:extLst>
          </p:cNvPr>
          <p:cNvSpPr txBox="1"/>
          <p:nvPr/>
        </p:nvSpPr>
        <p:spPr>
          <a:xfrm>
            <a:off x="3735404" y="560845"/>
            <a:ext cx="4491385" cy="10364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67"/>
              </a:lnSpc>
            </a:pPr>
            <a:r>
              <a:rPr lang="en-US" sz="4667" b="1" dirty="0">
                <a:latin typeface="Arial Bold"/>
                <a:ea typeface="Arial Bold"/>
                <a:cs typeface="Arial Bold"/>
                <a:sym typeface="Arial Bold"/>
              </a:rPr>
              <a:t>Outcome</a:t>
            </a:r>
          </a:p>
          <a:p>
            <a:pPr algn="ctr">
              <a:lnSpc>
                <a:spcPts val="3733"/>
              </a:lnSpc>
            </a:pPr>
            <a:r>
              <a:rPr lang="en-US" sz="2666" b="1" i="1" dirty="0">
                <a:latin typeface="Arial Bold"/>
                <a:ea typeface="Arial Bold"/>
                <a:cs typeface="Arial Bold"/>
                <a:sym typeface="Arial Bold"/>
              </a:rPr>
              <a:t>Knowledge Increase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0F5919D-B157-6109-B9D6-4C7DE54CE57C}"/>
              </a:ext>
            </a:extLst>
          </p:cNvPr>
          <p:cNvGrpSpPr/>
          <p:nvPr/>
        </p:nvGrpSpPr>
        <p:grpSpPr>
          <a:xfrm>
            <a:off x="6299803" y="2051190"/>
            <a:ext cx="3019272" cy="1327780"/>
            <a:chOff x="6668513" y="3882529"/>
            <a:chExt cx="3019272" cy="1327780"/>
          </a:xfrm>
        </p:grpSpPr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C04FCE9E-A834-8C90-ADC0-994A59A1F864}"/>
                </a:ext>
              </a:extLst>
            </p:cNvPr>
            <p:cNvSpPr/>
            <p:nvPr/>
          </p:nvSpPr>
          <p:spPr>
            <a:xfrm>
              <a:off x="6668513" y="3882529"/>
              <a:ext cx="3019272" cy="1327780"/>
            </a:xfrm>
            <a:custGeom>
              <a:avLst/>
              <a:gdLst/>
              <a:ahLst/>
              <a:cxnLst/>
              <a:rect l="l" t="t" r="r" b="b"/>
              <a:pathLst>
                <a:path w="859322" h="377903">
                  <a:moveTo>
                    <a:pt x="36207" y="0"/>
                  </a:moveTo>
                  <a:lnTo>
                    <a:pt x="823115" y="0"/>
                  </a:lnTo>
                  <a:cubicBezTo>
                    <a:pt x="843112" y="0"/>
                    <a:pt x="859322" y="16210"/>
                    <a:pt x="859322" y="36207"/>
                  </a:cubicBezTo>
                  <a:lnTo>
                    <a:pt x="859322" y="341696"/>
                  </a:lnTo>
                  <a:cubicBezTo>
                    <a:pt x="859322" y="351299"/>
                    <a:pt x="855507" y="360508"/>
                    <a:pt x="848717" y="367298"/>
                  </a:cubicBezTo>
                  <a:cubicBezTo>
                    <a:pt x="841927" y="374088"/>
                    <a:pt x="832718" y="377903"/>
                    <a:pt x="823115" y="377903"/>
                  </a:cubicBezTo>
                  <a:lnTo>
                    <a:pt x="36207" y="377903"/>
                  </a:lnTo>
                  <a:cubicBezTo>
                    <a:pt x="26604" y="377903"/>
                    <a:pt x="17395" y="374088"/>
                    <a:pt x="10605" y="367298"/>
                  </a:cubicBezTo>
                  <a:cubicBezTo>
                    <a:pt x="3815" y="360508"/>
                    <a:pt x="0" y="351299"/>
                    <a:pt x="0" y="341696"/>
                  </a:cubicBezTo>
                  <a:lnTo>
                    <a:pt x="0" y="36207"/>
                  </a:lnTo>
                  <a:cubicBezTo>
                    <a:pt x="0" y="26604"/>
                    <a:pt x="3815" y="17395"/>
                    <a:pt x="10605" y="10605"/>
                  </a:cubicBezTo>
                  <a:cubicBezTo>
                    <a:pt x="17395" y="3815"/>
                    <a:pt x="26604" y="0"/>
                    <a:pt x="36207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id-ID" sz="933"/>
            </a:p>
          </p:txBody>
        </p:sp>
        <p:sp>
          <p:nvSpPr>
            <p:cNvPr id="27" name="TextBox 18">
              <a:extLst>
                <a:ext uri="{FF2B5EF4-FFF2-40B4-BE49-F238E27FC236}">
                  <a16:creationId xmlns:a16="http://schemas.microsoft.com/office/drawing/2014/main" id="{7E419FD6-4C2A-08A8-FAE9-00AA0303397B}"/>
                </a:ext>
              </a:extLst>
            </p:cNvPr>
            <p:cNvSpPr txBox="1"/>
            <p:nvPr/>
          </p:nvSpPr>
          <p:spPr>
            <a:xfrm>
              <a:off x="6933437" y="4230098"/>
              <a:ext cx="2489423" cy="9271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79"/>
                </a:lnSpc>
                <a:spcBef>
                  <a:spcPct val="0"/>
                </a:spcBef>
              </a:pPr>
              <a:r>
                <a:rPr lang="en-US" sz="2666" b="1" dirty="0">
                  <a:latin typeface="Montserrat Bold"/>
                  <a:ea typeface="Montserrat Bold"/>
                  <a:cs typeface="Montserrat Bold"/>
                  <a:sym typeface="Montserrat Bold"/>
                </a:rPr>
                <a:t>77%</a:t>
              </a:r>
            </a:p>
            <a:p>
              <a:pPr algn="ctr">
                <a:lnSpc>
                  <a:spcPts val="1440"/>
                </a:lnSpc>
                <a:spcBef>
                  <a:spcPct val="0"/>
                </a:spcBef>
              </a:pPr>
              <a:r>
                <a:rPr lang="en-US" sz="1333" dirty="0">
                  <a:latin typeface="Montserrat"/>
                  <a:ea typeface="Montserrat"/>
                  <a:cs typeface="Montserrat"/>
                  <a:sym typeface="Montserrat"/>
                </a:rPr>
                <a:t>Workshop Participation</a:t>
              </a:r>
            </a:p>
            <a:p>
              <a:pPr algn="ctr">
                <a:lnSpc>
                  <a:spcPts val="1440"/>
                </a:lnSpc>
                <a:spcBef>
                  <a:spcPct val="0"/>
                </a:spcBef>
              </a:pPr>
              <a:r>
                <a:rPr lang="en-US" sz="1333" dirty="0">
                  <a:latin typeface="Montserrat"/>
                  <a:ea typeface="Montserrat"/>
                  <a:cs typeface="Montserrat"/>
                  <a:sym typeface="Montserrat"/>
                </a:rPr>
                <a:t>(Pre-test &amp; Post Test)</a:t>
              </a:r>
            </a:p>
            <a:p>
              <a:pPr algn="ctr">
                <a:lnSpc>
                  <a:spcPts val="1561"/>
                </a:lnSpc>
                <a:spcBef>
                  <a:spcPct val="0"/>
                </a:spcBef>
              </a:pPr>
              <a:endParaRPr lang="en-US" sz="1333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9" name="Group 14"/>
          <p:cNvGrpSpPr/>
          <p:nvPr/>
        </p:nvGrpSpPr>
        <p:grpSpPr>
          <a:xfrm>
            <a:off x="6299803" y="3788632"/>
            <a:ext cx="3019272" cy="1506039"/>
            <a:chOff x="0" y="0"/>
            <a:chExt cx="6038545" cy="2655561"/>
          </a:xfrm>
        </p:grpSpPr>
        <p:grpSp>
          <p:nvGrpSpPr>
            <p:cNvPr id="30" name="Group 15"/>
            <p:cNvGrpSpPr/>
            <p:nvPr/>
          </p:nvGrpSpPr>
          <p:grpSpPr>
            <a:xfrm>
              <a:off x="0" y="0"/>
              <a:ext cx="6038545" cy="2655561"/>
              <a:chOff x="0" y="0"/>
              <a:chExt cx="859322" cy="377903"/>
            </a:xfrm>
          </p:grpSpPr>
          <p:sp>
            <p:nvSpPr>
              <p:cNvPr id="32" name="Freeform 16"/>
              <p:cNvSpPr/>
              <p:nvPr/>
            </p:nvSpPr>
            <p:spPr>
              <a:xfrm>
                <a:off x="0" y="0"/>
                <a:ext cx="859322" cy="377903"/>
              </a:xfrm>
              <a:custGeom>
                <a:avLst/>
                <a:gdLst/>
                <a:ahLst/>
                <a:cxnLst/>
                <a:rect l="l" t="t" r="r" b="b"/>
                <a:pathLst>
                  <a:path w="859322" h="377903">
                    <a:moveTo>
                      <a:pt x="36207" y="0"/>
                    </a:moveTo>
                    <a:lnTo>
                      <a:pt x="823115" y="0"/>
                    </a:lnTo>
                    <a:cubicBezTo>
                      <a:pt x="843112" y="0"/>
                      <a:pt x="859322" y="16210"/>
                      <a:pt x="859322" y="36207"/>
                    </a:cubicBezTo>
                    <a:lnTo>
                      <a:pt x="859322" y="341696"/>
                    </a:lnTo>
                    <a:cubicBezTo>
                      <a:pt x="859322" y="351299"/>
                      <a:pt x="855507" y="360508"/>
                      <a:pt x="848717" y="367298"/>
                    </a:cubicBezTo>
                    <a:cubicBezTo>
                      <a:pt x="841927" y="374088"/>
                      <a:pt x="832718" y="377903"/>
                      <a:pt x="823115" y="377903"/>
                    </a:cubicBezTo>
                    <a:lnTo>
                      <a:pt x="36207" y="377903"/>
                    </a:lnTo>
                    <a:cubicBezTo>
                      <a:pt x="26604" y="377903"/>
                      <a:pt x="17395" y="374088"/>
                      <a:pt x="10605" y="367298"/>
                    </a:cubicBezTo>
                    <a:cubicBezTo>
                      <a:pt x="3815" y="360508"/>
                      <a:pt x="0" y="351299"/>
                      <a:pt x="0" y="341696"/>
                    </a:cubicBezTo>
                    <a:lnTo>
                      <a:pt x="0" y="36207"/>
                    </a:lnTo>
                    <a:cubicBezTo>
                      <a:pt x="0" y="26604"/>
                      <a:pt x="3815" y="17395"/>
                      <a:pt x="10605" y="10605"/>
                    </a:cubicBezTo>
                    <a:cubicBezTo>
                      <a:pt x="17395" y="3815"/>
                      <a:pt x="26604" y="0"/>
                      <a:pt x="36207" y="0"/>
                    </a:cubicBezTo>
                    <a:close/>
                  </a:path>
                </a:pathLst>
              </a:custGeom>
              <a:solidFill>
                <a:srgbClr val="C1FF72"/>
              </a:solidFill>
            </p:spPr>
            <p:txBody>
              <a:bodyPr/>
              <a:lstStyle/>
              <a:p>
                <a:endParaRPr lang="id-ID" sz="933"/>
              </a:p>
            </p:txBody>
          </p:sp>
          <p:sp>
            <p:nvSpPr>
              <p:cNvPr id="33" name="TextBox 17"/>
              <p:cNvSpPr txBox="1"/>
              <p:nvPr/>
            </p:nvSpPr>
            <p:spPr>
              <a:xfrm>
                <a:off x="0" y="19050"/>
                <a:ext cx="859322" cy="358853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440"/>
                  </a:lnSpc>
                </a:pPr>
                <a:endParaRPr sz="933"/>
              </a:p>
            </p:txBody>
          </p:sp>
        </p:grpSp>
        <p:sp>
          <p:nvSpPr>
            <p:cNvPr id="31" name="TextBox 18"/>
            <p:cNvSpPr txBox="1"/>
            <p:nvPr/>
          </p:nvSpPr>
          <p:spPr>
            <a:xfrm>
              <a:off x="291154" y="542817"/>
              <a:ext cx="5217541" cy="16054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879"/>
                </a:lnSpc>
                <a:spcBef>
                  <a:spcPct val="0"/>
                </a:spcBef>
              </a:pPr>
              <a:r>
                <a:rPr lang="en-US" sz="2666" b="1" dirty="0">
                  <a:latin typeface="Montserrat Bold"/>
                  <a:ea typeface="Montserrat Bold"/>
                  <a:cs typeface="Montserrat Bold"/>
                  <a:sym typeface="Montserrat Bold"/>
                </a:rPr>
                <a:t>13 Vlogs</a:t>
              </a:r>
            </a:p>
            <a:p>
              <a:pPr algn="ctr">
                <a:lnSpc>
                  <a:spcPts val="1440"/>
                </a:lnSpc>
                <a:spcBef>
                  <a:spcPct val="0"/>
                </a:spcBef>
              </a:pPr>
              <a:r>
                <a:rPr lang="en-US" sz="1333" dirty="0">
                  <a:latin typeface="Montserrat"/>
                  <a:ea typeface="Montserrat"/>
                  <a:cs typeface="Montserrat"/>
                  <a:sym typeface="Montserrat"/>
                </a:rPr>
                <a:t>Educational Vlogs</a:t>
              </a:r>
            </a:p>
            <a:p>
              <a:pPr algn="ctr">
                <a:lnSpc>
                  <a:spcPts val="1440"/>
                </a:lnSpc>
                <a:spcBef>
                  <a:spcPct val="0"/>
                </a:spcBef>
              </a:pPr>
              <a:r>
                <a:rPr lang="en-US" sz="1333" dirty="0">
                  <a:latin typeface="Montserrat"/>
                  <a:ea typeface="Montserrat"/>
                  <a:cs typeface="Montserrat"/>
                  <a:sym typeface="Montserrat"/>
                </a:rPr>
                <a:t>youth-created videos</a:t>
              </a:r>
            </a:p>
            <a:p>
              <a:pPr algn="ctr">
                <a:lnSpc>
                  <a:spcPts val="1440"/>
                </a:lnSpc>
                <a:spcBef>
                  <a:spcPct val="0"/>
                </a:spcBef>
              </a:pPr>
              <a:r>
                <a:rPr lang="en-US" sz="1333" dirty="0">
                  <a:latin typeface="Montserrat"/>
                  <a:ea typeface="Montserrat"/>
                  <a:cs typeface="Montserrat"/>
                  <a:sym typeface="Montserrat"/>
                </a:rPr>
                <a:t>(</a:t>
              </a:r>
              <a:r>
                <a:rPr lang="en-US" sz="1333" b="1" dirty="0">
                  <a:latin typeface="Montserrat"/>
                  <a:ea typeface="Montserrat"/>
                  <a:cs typeface="Montserrat"/>
                  <a:sym typeface="Montserrat"/>
                </a:rPr>
                <a:t>56.7% </a:t>
              </a:r>
              <a:r>
                <a:rPr lang="en-US" sz="1333" dirty="0">
                  <a:latin typeface="Montserrat"/>
                  <a:ea typeface="Montserrat"/>
                  <a:cs typeface="Montserrat"/>
                  <a:sym typeface="Montserrat"/>
                </a:rPr>
                <a:t>from total participants)</a:t>
              </a:r>
            </a:p>
          </p:txBody>
        </p:sp>
      </p:grpSp>
      <p:grpSp>
        <p:nvGrpSpPr>
          <p:cNvPr id="2" name="Group 2">
            <a:extLst>
              <a:ext uri="{FF2B5EF4-FFF2-40B4-BE49-F238E27FC236}">
                <a16:creationId xmlns:a16="http://schemas.microsoft.com/office/drawing/2014/main" id="{17B91BCC-0BF6-C673-DE01-56D4D5A0BF11}"/>
              </a:ext>
            </a:extLst>
          </p:cNvPr>
          <p:cNvGrpSpPr>
            <a:grpSpLocks noChangeAspect="1"/>
          </p:cNvGrpSpPr>
          <p:nvPr/>
        </p:nvGrpSpPr>
        <p:grpSpPr>
          <a:xfrm>
            <a:off x="10705864" y="6146800"/>
            <a:ext cx="1181336" cy="523413"/>
            <a:chOff x="0" y="0"/>
            <a:chExt cx="2362672" cy="1046826"/>
          </a:xfrm>
        </p:grpSpPr>
        <p:sp>
          <p:nvSpPr>
            <p:cNvPr id="3" name="Freeform 3" descr="A black and green sign with a couple of heads  Description automatically generated">
              <a:extLst>
                <a:ext uri="{FF2B5EF4-FFF2-40B4-BE49-F238E27FC236}">
                  <a16:creationId xmlns:a16="http://schemas.microsoft.com/office/drawing/2014/main" id="{6B6F37B0-3B14-4E44-130E-ACDF550C6CB6}"/>
                </a:ext>
              </a:extLst>
            </p:cNvPr>
            <p:cNvSpPr/>
            <p:nvPr/>
          </p:nvSpPr>
          <p:spPr>
            <a:xfrm>
              <a:off x="0" y="0"/>
              <a:ext cx="2362708" cy="1046861"/>
            </a:xfrm>
            <a:custGeom>
              <a:avLst/>
              <a:gdLst/>
              <a:ahLst/>
              <a:cxnLst/>
              <a:rect l="l" t="t" r="r" b="b"/>
              <a:pathLst>
                <a:path w="2362708" h="1046861">
                  <a:moveTo>
                    <a:pt x="0" y="0"/>
                  </a:moveTo>
                  <a:lnTo>
                    <a:pt x="2362708" y="0"/>
                  </a:lnTo>
                  <a:lnTo>
                    <a:pt x="2362708" y="1046861"/>
                  </a:lnTo>
                  <a:lnTo>
                    <a:pt x="0" y="1046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62" r="1" b="-159"/>
              </a:stretch>
            </a:blipFill>
          </p:spPr>
          <p:txBody>
            <a:bodyPr/>
            <a:lstStyle/>
            <a:p>
              <a:endParaRPr lang="id-ID" sz="933"/>
            </a:p>
          </p:txBody>
        </p:sp>
      </p:grpSp>
      <p:grpSp>
        <p:nvGrpSpPr>
          <p:cNvPr id="15" name="Group 26">
            <a:extLst>
              <a:ext uri="{FF2B5EF4-FFF2-40B4-BE49-F238E27FC236}">
                <a16:creationId xmlns:a16="http://schemas.microsoft.com/office/drawing/2014/main" id="{942F9292-6458-D758-F460-B0BF4A92A568}"/>
              </a:ext>
            </a:extLst>
          </p:cNvPr>
          <p:cNvGrpSpPr>
            <a:grpSpLocks noChangeAspect="1"/>
          </p:cNvGrpSpPr>
          <p:nvPr/>
        </p:nvGrpSpPr>
        <p:grpSpPr>
          <a:xfrm>
            <a:off x="1727200" y="6325895"/>
            <a:ext cx="2502089" cy="351321"/>
            <a:chOff x="0" y="0"/>
            <a:chExt cx="7739614" cy="1086727"/>
          </a:xfrm>
        </p:grpSpPr>
        <p:sp>
          <p:nvSpPr>
            <p:cNvPr id="16" name="Freeform 27">
              <a:extLst>
                <a:ext uri="{FF2B5EF4-FFF2-40B4-BE49-F238E27FC236}">
                  <a16:creationId xmlns:a16="http://schemas.microsoft.com/office/drawing/2014/main" id="{102FA99C-0B3B-C9FC-5DA7-DCC2A97E54EE}"/>
                </a:ext>
              </a:extLst>
            </p:cNvPr>
            <p:cNvSpPr/>
            <p:nvPr/>
          </p:nvSpPr>
          <p:spPr>
            <a:xfrm>
              <a:off x="0" y="0"/>
              <a:ext cx="7739634" cy="1086739"/>
            </a:xfrm>
            <a:custGeom>
              <a:avLst/>
              <a:gdLst/>
              <a:ahLst/>
              <a:cxnLst/>
              <a:rect l="l" t="t" r="r" b="b"/>
              <a:pathLst>
                <a:path w="7739634" h="1086739">
                  <a:moveTo>
                    <a:pt x="0" y="0"/>
                  </a:moveTo>
                  <a:lnTo>
                    <a:pt x="7739634" y="0"/>
                  </a:lnTo>
                  <a:lnTo>
                    <a:pt x="7739634" y="1086739"/>
                  </a:lnTo>
                  <a:lnTo>
                    <a:pt x="0" y="108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86" b="-285"/>
              </a:stretch>
            </a:blipFill>
          </p:spPr>
          <p:txBody>
            <a:bodyPr/>
            <a:lstStyle/>
            <a:p>
              <a:endParaRPr lang="id-ID" sz="933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81c11f77f_0_221"/>
          <p:cNvSpPr txBox="1"/>
          <p:nvPr/>
        </p:nvSpPr>
        <p:spPr>
          <a:xfrm>
            <a:off x="736159" y="837185"/>
            <a:ext cx="10157700" cy="695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466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old"/>
                <a:ea typeface="Arial Bold"/>
                <a:cs typeface="Arial Bold"/>
                <a:sym typeface="Arial Bold"/>
              </a:rPr>
              <a:t>Outcome: Knowledge Increase</a:t>
            </a:r>
          </a:p>
        </p:txBody>
      </p:sp>
      <p:sp>
        <p:nvSpPr>
          <p:cNvPr id="203" name="Google Shape;203;g3681c11f77f_0_221"/>
          <p:cNvSpPr/>
          <p:nvPr/>
        </p:nvSpPr>
        <p:spPr>
          <a:xfrm>
            <a:off x="10662177" y="-50651"/>
            <a:ext cx="2194801" cy="6922241"/>
          </a:xfrm>
          <a:custGeom>
            <a:avLst/>
            <a:gdLst/>
            <a:ahLst/>
            <a:cxnLst/>
            <a:rect l="l" t="t" r="r" b="b"/>
            <a:pathLst>
              <a:path w="2194801" h="6922241" extrusionOk="0">
                <a:moveTo>
                  <a:pt x="0" y="58993"/>
                </a:moveTo>
                <a:lnTo>
                  <a:pt x="1929330" y="0"/>
                </a:lnTo>
                <a:lnTo>
                  <a:pt x="2194801" y="6922241"/>
                </a:lnTo>
                <a:lnTo>
                  <a:pt x="1836254" y="6922241"/>
                </a:lnTo>
                <a:lnTo>
                  <a:pt x="0" y="58993"/>
                </a:lnTo>
                <a:close/>
              </a:path>
            </a:pathLst>
          </a:custGeom>
          <a:solidFill>
            <a:srgbClr val="DCF8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681c11f77f_0_221"/>
          <p:cNvSpPr txBox="1"/>
          <p:nvPr/>
        </p:nvSpPr>
        <p:spPr>
          <a:xfrm>
            <a:off x="1434387" y="4974941"/>
            <a:ext cx="10013700" cy="55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2800"/>
            </a:pPr>
            <a:r>
              <a:rPr lang="id-ID" sz="1300" dirty="0"/>
              <a:t>There was an overall improvement in participants' pre-test and post-test scores, with </a:t>
            </a:r>
            <a:r>
              <a:rPr lang="id-ID" sz="1300" b="1" dirty="0"/>
              <a:t>52.17%</a:t>
            </a:r>
            <a:r>
              <a:rPr lang="id-ID" sz="1300" dirty="0"/>
              <a:t> of participants maintaining their scores and </a:t>
            </a:r>
            <a:r>
              <a:rPr lang="id-ID" sz="1300" b="1" dirty="0"/>
              <a:t>47.83%</a:t>
            </a:r>
            <a:r>
              <a:rPr lang="id-ID" sz="1300" dirty="0"/>
              <a:t> demonstrating score improvement.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CA39C97E-881E-A097-6A06-09D32E9649CD}"/>
              </a:ext>
            </a:extLst>
          </p:cNvPr>
          <p:cNvSpPr txBox="1"/>
          <p:nvPr/>
        </p:nvSpPr>
        <p:spPr>
          <a:xfrm>
            <a:off x="63503" y="1358584"/>
            <a:ext cx="11503012" cy="50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4319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Bold"/>
                <a:ea typeface="Arial Bold"/>
                <a:cs typeface="Arial Bold"/>
                <a:sym typeface="Arial Bold"/>
              </a:rPr>
              <a:t>Ceiling Effect on Pre-Post Test </a:t>
            </a:r>
            <a:r>
              <a:rPr kumimoji="0" lang="en-US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Bold"/>
                <a:ea typeface="Arial Bold"/>
                <a:cs typeface="Arial Bold"/>
                <a:sym typeface="Arial Bold"/>
              </a:rPr>
              <a:t>Assesment</a:t>
            </a:r>
            <a:endParaRPr kumimoji="0" lang="en-US" sz="2400" b="1" i="1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19F08D8-3F39-1B8F-A4B3-F83DBFA4370E}"/>
              </a:ext>
            </a:extLst>
          </p:cNvPr>
          <p:cNvSpPr/>
          <p:nvPr/>
        </p:nvSpPr>
        <p:spPr>
          <a:xfrm>
            <a:off x="1371407" y="5572276"/>
            <a:ext cx="9837367" cy="11737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id-ID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F1FB897-7693-D40A-B2A7-A22F1147C614}"/>
              </a:ext>
            </a:extLst>
          </p:cNvPr>
          <p:cNvGrpSpPr/>
          <p:nvPr/>
        </p:nvGrpSpPr>
        <p:grpSpPr>
          <a:xfrm>
            <a:off x="1125123" y="1797204"/>
            <a:ext cx="9702239" cy="3032512"/>
            <a:chOff x="1125123" y="2098627"/>
            <a:chExt cx="10555600" cy="3299236"/>
          </a:xfrm>
        </p:grpSpPr>
        <p:pic>
          <p:nvPicPr>
            <p:cNvPr id="206" name="Google Shape;206;g3681c11f77f_0_2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797138" y="2098627"/>
              <a:ext cx="3883585" cy="32392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" name="Freeform 4">
              <a:extLst>
                <a:ext uri="{FF2B5EF4-FFF2-40B4-BE49-F238E27FC236}">
                  <a16:creationId xmlns:a16="http://schemas.microsoft.com/office/drawing/2014/main" id="{40AACAFA-8B91-590E-9B94-3EB09D472B79}"/>
                </a:ext>
              </a:extLst>
            </p:cNvPr>
            <p:cNvSpPr/>
            <p:nvPr/>
          </p:nvSpPr>
          <p:spPr>
            <a:xfrm>
              <a:off x="1217322" y="2333189"/>
              <a:ext cx="6783245" cy="2530499"/>
            </a:xfrm>
            <a:custGeom>
              <a:avLst/>
              <a:gdLst/>
              <a:ahLst/>
              <a:cxnLst/>
              <a:rect l="l" t="t" r="r" b="b"/>
              <a:pathLst>
                <a:path w="11301259" h="3675537">
                  <a:moveTo>
                    <a:pt x="0" y="0"/>
                  </a:moveTo>
                  <a:lnTo>
                    <a:pt x="11301259" y="0"/>
                  </a:lnTo>
                  <a:lnTo>
                    <a:pt x="11301259" y="3675537"/>
                  </a:lnTo>
                  <a:lnTo>
                    <a:pt x="0" y="3675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6084" b="-36505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id-ID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19" name="Group 6">
              <a:extLst>
                <a:ext uri="{FF2B5EF4-FFF2-40B4-BE49-F238E27FC236}">
                  <a16:creationId xmlns:a16="http://schemas.microsoft.com/office/drawing/2014/main" id="{31003F91-0D2F-43C9-1A07-2819B9FB1568}"/>
                </a:ext>
              </a:extLst>
            </p:cNvPr>
            <p:cNvGrpSpPr/>
            <p:nvPr/>
          </p:nvGrpSpPr>
          <p:grpSpPr>
            <a:xfrm>
              <a:off x="7375014" y="2359850"/>
              <a:ext cx="382401" cy="134227"/>
              <a:chOff x="0" y="0"/>
              <a:chExt cx="342488" cy="120218"/>
            </a:xfrm>
          </p:grpSpPr>
          <p:sp>
            <p:nvSpPr>
              <p:cNvPr id="20" name="Freeform 7">
                <a:extLst>
                  <a:ext uri="{FF2B5EF4-FFF2-40B4-BE49-F238E27FC236}">
                    <a16:creationId xmlns:a16="http://schemas.microsoft.com/office/drawing/2014/main" id="{4467527F-F0C9-A307-6E80-55AE4222E061}"/>
                  </a:ext>
                </a:extLst>
              </p:cNvPr>
              <p:cNvSpPr/>
              <p:nvPr/>
            </p:nvSpPr>
            <p:spPr>
              <a:xfrm>
                <a:off x="0" y="0"/>
                <a:ext cx="342488" cy="120218"/>
              </a:xfrm>
              <a:custGeom>
                <a:avLst/>
                <a:gdLst/>
                <a:ahLst/>
                <a:cxnLst/>
                <a:rect l="l" t="t" r="r" b="b"/>
                <a:pathLst>
                  <a:path w="342488" h="120218">
                    <a:moveTo>
                      <a:pt x="171244" y="0"/>
                    </a:moveTo>
                    <a:cubicBezTo>
                      <a:pt x="76669" y="0"/>
                      <a:pt x="0" y="26912"/>
                      <a:pt x="0" y="60109"/>
                    </a:cubicBezTo>
                    <a:cubicBezTo>
                      <a:pt x="0" y="93306"/>
                      <a:pt x="76669" y="120218"/>
                      <a:pt x="171244" y="120218"/>
                    </a:cubicBezTo>
                    <a:cubicBezTo>
                      <a:pt x="265820" y="120218"/>
                      <a:pt x="342488" y="93306"/>
                      <a:pt x="342488" y="60109"/>
                    </a:cubicBezTo>
                    <a:cubicBezTo>
                      <a:pt x="342488" y="26912"/>
                      <a:pt x="265820" y="0"/>
                      <a:pt x="171244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EA1E1E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id-ID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1" name="TextBox 8">
                <a:extLst>
                  <a:ext uri="{FF2B5EF4-FFF2-40B4-BE49-F238E27FC236}">
                    <a16:creationId xmlns:a16="http://schemas.microsoft.com/office/drawing/2014/main" id="{92A42EF9-2144-4124-9F9C-9DDB55584AEF}"/>
                  </a:ext>
                </a:extLst>
              </p:cNvPr>
              <p:cNvSpPr txBox="1"/>
              <p:nvPr/>
            </p:nvSpPr>
            <p:spPr>
              <a:xfrm>
                <a:off x="32108" y="30320"/>
                <a:ext cx="278272" cy="786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1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" name="TextBox 11">
              <a:extLst>
                <a:ext uri="{FF2B5EF4-FFF2-40B4-BE49-F238E27FC236}">
                  <a16:creationId xmlns:a16="http://schemas.microsoft.com/office/drawing/2014/main" id="{799DAF8D-32ED-4CBF-FEFB-8FA8294D97B9}"/>
                </a:ext>
              </a:extLst>
            </p:cNvPr>
            <p:cNvSpPr txBox="1"/>
            <p:nvPr/>
          </p:nvSpPr>
          <p:spPr>
            <a:xfrm>
              <a:off x="1125123" y="4855318"/>
              <a:ext cx="7429152" cy="19152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1695"/>
                </a:lnSpc>
                <a:spcBef>
                  <a:spcPct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60" b="1" i="0" u="none" strike="noStrike" kern="0" cap="none" spc="0" normalizeH="0" baseline="0" noProof="0" dirty="0">
                  <a:ln>
                    <a:noFill/>
                  </a:ln>
                  <a:solidFill>
                    <a:srgbClr val="5B5B5B"/>
                  </a:solidFill>
                  <a:effectLst/>
                  <a:uLnTx/>
                  <a:uFillTx/>
                  <a:latin typeface="Arial Bold"/>
                  <a:ea typeface="Arial Bold"/>
                  <a:cs typeface="Arial Bold"/>
                  <a:sym typeface="Arial Bold"/>
                </a:rPr>
                <a:t>R01 R02 R03 R04 R05 R06 R07 R08 R09 R10 R11 R12 R13 R14 R15 R16 R17 R18 R19 R20 R21 R22 R23</a:t>
              </a:r>
            </a:p>
          </p:txBody>
        </p:sp>
        <p:grpSp>
          <p:nvGrpSpPr>
            <p:cNvPr id="23" name="Group 12">
              <a:extLst>
                <a:ext uri="{FF2B5EF4-FFF2-40B4-BE49-F238E27FC236}">
                  <a16:creationId xmlns:a16="http://schemas.microsoft.com/office/drawing/2014/main" id="{3F83983D-1F68-6286-FA70-56E1768817D1}"/>
                </a:ext>
              </a:extLst>
            </p:cNvPr>
            <p:cNvGrpSpPr/>
            <p:nvPr/>
          </p:nvGrpSpPr>
          <p:grpSpPr>
            <a:xfrm>
              <a:off x="3605023" y="2305322"/>
              <a:ext cx="382401" cy="134227"/>
              <a:chOff x="0" y="0"/>
              <a:chExt cx="342488" cy="120218"/>
            </a:xfrm>
          </p:grpSpPr>
          <p:sp>
            <p:nvSpPr>
              <p:cNvPr id="24" name="Freeform 13">
                <a:extLst>
                  <a:ext uri="{FF2B5EF4-FFF2-40B4-BE49-F238E27FC236}">
                    <a16:creationId xmlns:a16="http://schemas.microsoft.com/office/drawing/2014/main" id="{F68DAA23-BBD8-4249-2E38-7BCBF9003D5E}"/>
                  </a:ext>
                </a:extLst>
              </p:cNvPr>
              <p:cNvSpPr/>
              <p:nvPr/>
            </p:nvSpPr>
            <p:spPr>
              <a:xfrm>
                <a:off x="0" y="0"/>
                <a:ext cx="342488" cy="120218"/>
              </a:xfrm>
              <a:custGeom>
                <a:avLst/>
                <a:gdLst/>
                <a:ahLst/>
                <a:cxnLst/>
                <a:rect l="l" t="t" r="r" b="b"/>
                <a:pathLst>
                  <a:path w="342488" h="120218">
                    <a:moveTo>
                      <a:pt x="171244" y="0"/>
                    </a:moveTo>
                    <a:cubicBezTo>
                      <a:pt x="76669" y="0"/>
                      <a:pt x="0" y="26912"/>
                      <a:pt x="0" y="60109"/>
                    </a:cubicBezTo>
                    <a:cubicBezTo>
                      <a:pt x="0" y="93306"/>
                      <a:pt x="76669" y="120218"/>
                      <a:pt x="171244" y="120218"/>
                    </a:cubicBezTo>
                    <a:cubicBezTo>
                      <a:pt x="265820" y="120218"/>
                      <a:pt x="342488" y="93306"/>
                      <a:pt x="342488" y="60109"/>
                    </a:cubicBezTo>
                    <a:cubicBezTo>
                      <a:pt x="342488" y="26912"/>
                      <a:pt x="265820" y="0"/>
                      <a:pt x="171244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EA1E1E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id-ID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5" name="TextBox 14">
                <a:extLst>
                  <a:ext uri="{FF2B5EF4-FFF2-40B4-BE49-F238E27FC236}">
                    <a16:creationId xmlns:a16="http://schemas.microsoft.com/office/drawing/2014/main" id="{6BEBD150-E791-4E59-82EE-3C39C40E14F6}"/>
                  </a:ext>
                </a:extLst>
              </p:cNvPr>
              <p:cNvSpPr txBox="1"/>
              <p:nvPr/>
            </p:nvSpPr>
            <p:spPr>
              <a:xfrm>
                <a:off x="32108" y="30320"/>
                <a:ext cx="278272" cy="786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1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" name="Group 15">
              <a:extLst>
                <a:ext uri="{FF2B5EF4-FFF2-40B4-BE49-F238E27FC236}">
                  <a16:creationId xmlns:a16="http://schemas.microsoft.com/office/drawing/2014/main" id="{FDBBDFCE-8F7D-B0C7-4A4D-29CF9A5D0824}"/>
                </a:ext>
              </a:extLst>
            </p:cNvPr>
            <p:cNvGrpSpPr/>
            <p:nvPr/>
          </p:nvGrpSpPr>
          <p:grpSpPr>
            <a:xfrm>
              <a:off x="3248632" y="2299148"/>
              <a:ext cx="423716" cy="120263"/>
              <a:chOff x="0" y="0"/>
              <a:chExt cx="342488" cy="120218"/>
            </a:xfrm>
          </p:grpSpPr>
          <p:sp>
            <p:nvSpPr>
              <p:cNvPr id="27" name="Freeform 16">
                <a:extLst>
                  <a:ext uri="{FF2B5EF4-FFF2-40B4-BE49-F238E27FC236}">
                    <a16:creationId xmlns:a16="http://schemas.microsoft.com/office/drawing/2014/main" id="{17862ED5-97ED-721B-DB41-D52473E61588}"/>
                  </a:ext>
                </a:extLst>
              </p:cNvPr>
              <p:cNvSpPr/>
              <p:nvPr/>
            </p:nvSpPr>
            <p:spPr>
              <a:xfrm>
                <a:off x="0" y="0"/>
                <a:ext cx="342488" cy="120218"/>
              </a:xfrm>
              <a:custGeom>
                <a:avLst/>
                <a:gdLst/>
                <a:ahLst/>
                <a:cxnLst/>
                <a:rect l="l" t="t" r="r" b="b"/>
                <a:pathLst>
                  <a:path w="342488" h="120218">
                    <a:moveTo>
                      <a:pt x="171244" y="0"/>
                    </a:moveTo>
                    <a:cubicBezTo>
                      <a:pt x="76669" y="0"/>
                      <a:pt x="0" y="26912"/>
                      <a:pt x="0" y="60109"/>
                    </a:cubicBezTo>
                    <a:cubicBezTo>
                      <a:pt x="0" y="93306"/>
                      <a:pt x="76669" y="120218"/>
                      <a:pt x="171244" y="120218"/>
                    </a:cubicBezTo>
                    <a:cubicBezTo>
                      <a:pt x="265820" y="120218"/>
                      <a:pt x="342488" y="93306"/>
                      <a:pt x="342488" y="60109"/>
                    </a:cubicBezTo>
                    <a:cubicBezTo>
                      <a:pt x="342488" y="26912"/>
                      <a:pt x="265820" y="0"/>
                      <a:pt x="171244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EA1E1E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id-ID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8" name="TextBox 17">
                <a:extLst>
                  <a:ext uri="{FF2B5EF4-FFF2-40B4-BE49-F238E27FC236}">
                    <a16:creationId xmlns:a16="http://schemas.microsoft.com/office/drawing/2014/main" id="{68793068-EB1B-D85D-575E-A6A9B3B0CA70}"/>
                  </a:ext>
                </a:extLst>
              </p:cNvPr>
              <p:cNvSpPr txBox="1"/>
              <p:nvPr/>
            </p:nvSpPr>
            <p:spPr>
              <a:xfrm>
                <a:off x="32108" y="30320"/>
                <a:ext cx="278272" cy="786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16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" name="TextBox 18">
              <a:extLst>
                <a:ext uri="{FF2B5EF4-FFF2-40B4-BE49-F238E27FC236}">
                  <a16:creationId xmlns:a16="http://schemas.microsoft.com/office/drawing/2014/main" id="{A367C4FB-01CA-C1E9-630C-691A1D691FE4}"/>
                </a:ext>
              </a:extLst>
            </p:cNvPr>
            <p:cNvSpPr txBox="1"/>
            <p:nvPr/>
          </p:nvSpPr>
          <p:spPr>
            <a:xfrm>
              <a:off x="1679483" y="5111778"/>
              <a:ext cx="9821526" cy="2860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2376"/>
                </a:lnSpc>
                <a:spcBef>
                  <a:spcPct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100" b="0" i="1" u="none" strike="noStrike" kern="0" cap="none" spc="0" normalizeH="0" baseline="0" noProof="0" dirty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rPr>
                <a:t>Figure 1. Pre–Test and Post–Test Results (left: blue color indicate pre test, green indicate post test) and Score Distribution (right: purple graph)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3245EB7-C33A-2CF9-1FAB-1A41BFDE962A}"/>
              </a:ext>
            </a:extLst>
          </p:cNvPr>
          <p:cNvSpPr txBox="1"/>
          <p:nvPr/>
        </p:nvSpPr>
        <p:spPr>
          <a:xfrm>
            <a:off x="1417443" y="5527360"/>
            <a:ext cx="971217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id-ID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Ceiling Effect</a:t>
            </a:r>
          </a:p>
          <a:p>
            <a:pPr lvl="0">
              <a:buClr>
                <a:srgbClr val="000000"/>
              </a:buClr>
            </a:pPr>
            <a:r>
              <a:rPr lang="id-ID" sz="1400" dirty="0"/>
              <a:t>Several participants achieved high baseline scores during the pre-test, leaving limited room for measurable improvement in the post-test. Consequently, modest score gains should not be interpreted as limited learning outcomes, but rather as a reflection of participants' already strong initial understanding of carbon footprint concepts (Resch et al., 2018</a:t>
            </a:r>
            <a:r>
              <a:rPr lang="en-US" sz="1400" dirty="0"/>
              <a:t>, </a:t>
            </a:r>
            <a:r>
              <a:rPr lang="id-ID" sz="1400" dirty="0"/>
              <a:t>Staus et al., 2021; Wang et al., 2009).</a:t>
            </a:r>
            <a:endParaRPr kumimoji="0" lang="id-ID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A46752BA-EC73-FE01-0442-2275BA2D682C}"/>
              </a:ext>
            </a:extLst>
          </p:cNvPr>
          <p:cNvGrpSpPr>
            <a:grpSpLocks noChangeAspect="1"/>
          </p:cNvGrpSpPr>
          <p:nvPr/>
        </p:nvGrpSpPr>
        <p:grpSpPr>
          <a:xfrm>
            <a:off x="9766097" y="246517"/>
            <a:ext cx="1181336" cy="523413"/>
            <a:chOff x="0" y="0"/>
            <a:chExt cx="2362672" cy="1046826"/>
          </a:xfrm>
        </p:grpSpPr>
        <p:sp>
          <p:nvSpPr>
            <p:cNvPr id="4" name="Freeform 3" descr="A black and green sign with a couple of heads  Description automatically generated">
              <a:extLst>
                <a:ext uri="{FF2B5EF4-FFF2-40B4-BE49-F238E27FC236}">
                  <a16:creationId xmlns:a16="http://schemas.microsoft.com/office/drawing/2014/main" id="{C0D8A8E0-63F4-B4C8-3702-BE7D97B842DD}"/>
                </a:ext>
              </a:extLst>
            </p:cNvPr>
            <p:cNvSpPr/>
            <p:nvPr/>
          </p:nvSpPr>
          <p:spPr>
            <a:xfrm>
              <a:off x="0" y="0"/>
              <a:ext cx="2362708" cy="1046861"/>
            </a:xfrm>
            <a:custGeom>
              <a:avLst/>
              <a:gdLst/>
              <a:ahLst/>
              <a:cxnLst/>
              <a:rect l="l" t="t" r="r" b="b"/>
              <a:pathLst>
                <a:path w="2362708" h="1046861">
                  <a:moveTo>
                    <a:pt x="0" y="0"/>
                  </a:moveTo>
                  <a:lnTo>
                    <a:pt x="2362708" y="0"/>
                  </a:lnTo>
                  <a:lnTo>
                    <a:pt x="2362708" y="1046861"/>
                  </a:lnTo>
                  <a:lnTo>
                    <a:pt x="0" y="1046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62" r="1" b="-159"/>
              </a:stretch>
            </a:blipFill>
          </p:spPr>
          <p:txBody>
            <a:bodyPr/>
            <a:lstStyle/>
            <a:p>
              <a:endParaRPr lang="id-ID" sz="933"/>
            </a:p>
          </p:txBody>
        </p:sp>
      </p:grpSp>
      <p:grpSp>
        <p:nvGrpSpPr>
          <p:cNvPr id="5" name="Group 26">
            <a:extLst>
              <a:ext uri="{FF2B5EF4-FFF2-40B4-BE49-F238E27FC236}">
                <a16:creationId xmlns:a16="http://schemas.microsoft.com/office/drawing/2014/main" id="{AEF8F052-0B72-38DB-FC5B-C519669C2083}"/>
              </a:ext>
            </a:extLst>
          </p:cNvPr>
          <p:cNvGrpSpPr>
            <a:grpSpLocks noChangeAspect="1"/>
          </p:cNvGrpSpPr>
          <p:nvPr/>
        </p:nvGrpSpPr>
        <p:grpSpPr>
          <a:xfrm>
            <a:off x="787433" y="425612"/>
            <a:ext cx="2502089" cy="351321"/>
            <a:chOff x="0" y="0"/>
            <a:chExt cx="7739614" cy="1086727"/>
          </a:xfrm>
        </p:grpSpPr>
        <p:sp>
          <p:nvSpPr>
            <p:cNvPr id="6" name="Freeform 27">
              <a:extLst>
                <a:ext uri="{FF2B5EF4-FFF2-40B4-BE49-F238E27FC236}">
                  <a16:creationId xmlns:a16="http://schemas.microsoft.com/office/drawing/2014/main" id="{3C1BF6FB-DD5E-724E-4106-3210A825D1F7}"/>
                </a:ext>
              </a:extLst>
            </p:cNvPr>
            <p:cNvSpPr/>
            <p:nvPr/>
          </p:nvSpPr>
          <p:spPr>
            <a:xfrm>
              <a:off x="0" y="0"/>
              <a:ext cx="7739634" cy="1086739"/>
            </a:xfrm>
            <a:custGeom>
              <a:avLst/>
              <a:gdLst/>
              <a:ahLst/>
              <a:cxnLst/>
              <a:rect l="l" t="t" r="r" b="b"/>
              <a:pathLst>
                <a:path w="7739634" h="1086739">
                  <a:moveTo>
                    <a:pt x="0" y="0"/>
                  </a:moveTo>
                  <a:lnTo>
                    <a:pt x="7739634" y="0"/>
                  </a:lnTo>
                  <a:lnTo>
                    <a:pt x="7739634" y="1086739"/>
                  </a:lnTo>
                  <a:lnTo>
                    <a:pt x="0" y="108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86" b="-285"/>
              </a:stretch>
            </a:blipFill>
          </p:spPr>
          <p:txBody>
            <a:bodyPr/>
            <a:lstStyle/>
            <a:p>
              <a:endParaRPr lang="id-ID" sz="933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683ec29931_0_48"/>
          <p:cNvSpPr/>
          <p:nvPr/>
        </p:nvSpPr>
        <p:spPr>
          <a:xfrm>
            <a:off x="10662177" y="-50651"/>
            <a:ext cx="2194801" cy="6922241"/>
          </a:xfrm>
          <a:custGeom>
            <a:avLst/>
            <a:gdLst/>
            <a:ahLst/>
            <a:cxnLst/>
            <a:rect l="l" t="t" r="r" b="b"/>
            <a:pathLst>
              <a:path w="2194801" h="6922241" extrusionOk="0">
                <a:moveTo>
                  <a:pt x="0" y="58993"/>
                </a:moveTo>
                <a:lnTo>
                  <a:pt x="1929330" y="0"/>
                </a:lnTo>
                <a:lnTo>
                  <a:pt x="2194801" y="6922241"/>
                </a:lnTo>
                <a:lnTo>
                  <a:pt x="1836254" y="6922241"/>
                </a:lnTo>
                <a:lnTo>
                  <a:pt x="0" y="58993"/>
                </a:lnTo>
                <a:close/>
              </a:path>
            </a:pathLst>
          </a:custGeom>
          <a:solidFill>
            <a:srgbClr val="DCF8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C02DED-4E9C-C8F0-D329-8FBD46515408}"/>
              </a:ext>
            </a:extLst>
          </p:cNvPr>
          <p:cNvSpPr/>
          <p:nvPr/>
        </p:nvSpPr>
        <p:spPr>
          <a:xfrm>
            <a:off x="684759" y="5199843"/>
            <a:ext cx="11341704" cy="10233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id-ID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225" name="Google Shape;225;g3683ec29931_0_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275" y="1791242"/>
            <a:ext cx="3736079" cy="302476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873330-8279-EB91-4044-A52493AFDFB3}"/>
              </a:ext>
            </a:extLst>
          </p:cNvPr>
          <p:cNvSpPr txBox="1"/>
          <p:nvPr/>
        </p:nvSpPr>
        <p:spPr>
          <a:xfrm>
            <a:off x="804008" y="5197533"/>
            <a:ext cx="1070323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400" b="1" dirty="0"/>
              <a:t>(a) Post-test scores shifted </a:t>
            </a:r>
            <a:r>
              <a:rPr lang="id-ID" sz="1400" dirty="0"/>
              <a:t>toward </a:t>
            </a:r>
            <a:r>
              <a:rPr lang="id-ID" sz="1400" b="1" dirty="0"/>
              <a:t>higher values</a:t>
            </a:r>
            <a:r>
              <a:rPr lang="id-ID" sz="1400" dirty="0"/>
              <a:t>, indicating improved climate literacy. </a:t>
            </a:r>
            <a:endParaRPr lang="en-US" sz="1400" dirty="0"/>
          </a:p>
          <a:p>
            <a:r>
              <a:rPr lang="id-ID" sz="1400" b="1" dirty="0"/>
              <a:t>(b) Learning gains </a:t>
            </a:r>
            <a:r>
              <a:rPr lang="id-ID" sz="1400" dirty="0"/>
              <a:t>were </a:t>
            </a:r>
            <a:r>
              <a:rPr lang="id-ID" sz="1400" b="1" dirty="0"/>
              <a:t>observed </a:t>
            </a:r>
            <a:r>
              <a:rPr lang="id-ID" sz="1400" dirty="0"/>
              <a:t>across both genders, with slightly greater gains among </a:t>
            </a:r>
            <a:r>
              <a:rPr lang="id-ID" sz="1400" b="1" dirty="0"/>
              <a:t>female participants</a:t>
            </a:r>
            <a:r>
              <a:rPr lang="id-ID" sz="1400" dirty="0"/>
              <a:t>. </a:t>
            </a:r>
            <a:endParaRPr lang="en-US" sz="1400" dirty="0"/>
          </a:p>
          <a:p>
            <a:r>
              <a:rPr lang="id-ID" sz="1400" b="1" dirty="0"/>
              <a:t>(c)</a:t>
            </a:r>
            <a:r>
              <a:rPr lang="id-ID" sz="1400" dirty="0"/>
              <a:t> </a:t>
            </a:r>
            <a:r>
              <a:rPr lang="id-ID" sz="1400" b="1" dirty="0"/>
              <a:t>Lower baseline knowledge </a:t>
            </a:r>
            <a:r>
              <a:rPr lang="id-ID" sz="1400" dirty="0"/>
              <a:t>was associated with </a:t>
            </a:r>
            <a:r>
              <a:rPr lang="id-ID" sz="1400" b="1" dirty="0"/>
              <a:t>greater learning gains </a:t>
            </a:r>
            <a:r>
              <a:rPr lang="id-ID" sz="1400" i="1" dirty="0"/>
              <a:t>(r = −0.68)</a:t>
            </a:r>
            <a:r>
              <a:rPr lang="id-ID" sz="1400" dirty="0"/>
              <a:t>, whereas smaller gains among high-scoring participants likely resulted from a </a:t>
            </a:r>
            <a:r>
              <a:rPr lang="id-ID" sz="1400" b="1" dirty="0"/>
              <a:t>ceiling effect</a:t>
            </a:r>
            <a:r>
              <a:rPr lang="id-ID" sz="1400" dirty="0"/>
              <a:t>.</a:t>
            </a:r>
            <a:r>
              <a:rPr lang="en-US" sz="1400" dirty="0"/>
              <a:t> </a:t>
            </a:r>
            <a:r>
              <a:rPr lang="id-ID" sz="1400" dirty="0"/>
              <a:t>(Staus et al., 2021; Wang et al., 2009).</a:t>
            </a:r>
          </a:p>
        </p:txBody>
      </p:sp>
      <p:sp>
        <p:nvSpPr>
          <p:cNvPr id="8" name="Google Shape;201;g3681c11f77f_0_221">
            <a:extLst>
              <a:ext uri="{FF2B5EF4-FFF2-40B4-BE49-F238E27FC236}">
                <a16:creationId xmlns:a16="http://schemas.microsoft.com/office/drawing/2014/main" id="{ED974296-844C-2219-1343-98C105ECABE1}"/>
              </a:ext>
            </a:extLst>
          </p:cNvPr>
          <p:cNvSpPr txBox="1"/>
          <p:nvPr/>
        </p:nvSpPr>
        <p:spPr>
          <a:xfrm>
            <a:off x="804008" y="1000311"/>
            <a:ext cx="10157700" cy="695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ts val="4667"/>
              </a:lnSpc>
            </a:pPr>
            <a:r>
              <a:rPr lang="en-US" sz="3600" b="1" dirty="0">
                <a:latin typeface="Arial Bold"/>
                <a:ea typeface="Arial Bold"/>
                <a:cs typeface="Arial Bold"/>
                <a:sym typeface="Arial Bold"/>
              </a:rPr>
              <a:t>Outcome: Knowledge Increase</a:t>
            </a:r>
          </a:p>
        </p:txBody>
      </p:sp>
      <p:pic>
        <p:nvPicPr>
          <p:cNvPr id="10" name="Google Shape;215;g3683ec29931_0_35">
            <a:extLst>
              <a:ext uri="{FF2B5EF4-FFF2-40B4-BE49-F238E27FC236}">
                <a16:creationId xmlns:a16="http://schemas.microsoft.com/office/drawing/2014/main" id="{F226EC46-1589-A741-22A6-26295232A7F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1457" y="1793742"/>
            <a:ext cx="3092995" cy="2952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236;g3683ec29931_0_70">
            <a:extLst>
              <a:ext uri="{FF2B5EF4-FFF2-40B4-BE49-F238E27FC236}">
                <a16:creationId xmlns:a16="http://schemas.microsoft.com/office/drawing/2014/main" id="{E76D74DA-0773-FA5D-7C0E-B643C7D1FAD7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60641" y="1842910"/>
            <a:ext cx="3446599" cy="295250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040C90D-9941-2EA0-87CC-B208A65E6AED}"/>
              </a:ext>
            </a:extLst>
          </p:cNvPr>
          <p:cNvSpPr txBox="1"/>
          <p:nvPr/>
        </p:nvSpPr>
        <p:spPr>
          <a:xfrm>
            <a:off x="804008" y="4731025"/>
            <a:ext cx="107032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(a)				 (b)				 (c)</a:t>
            </a:r>
            <a:endParaRPr lang="id-ID" sz="1200" dirty="0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CC82BCE4-08AA-273B-AE65-6EF2B59F27D1}"/>
              </a:ext>
            </a:extLst>
          </p:cNvPr>
          <p:cNvGrpSpPr>
            <a:grpSpLocks noChangeAspect="1"/>
          </p:cNvGrpSpPr>
          <p:nvPr/>
        </p:nvGrpSpPr>
        <p:grpSpPr>
          <a:xfrm>
            <a:off x="9766097" y="246517"/>
            <a:ext cx="1181336" cy="523413"/>
            <a:chOff x="0" y="0"/>
            <a:chExt cx="2362672" cy="1046826"/>
          </a:xfrm>
        </p:grpSpPr>
        <p:sp>
          <p:nvSpPr>
            <p:cNvPr id="4" name="Freeform 3" descr="A black and green sign with a couple of heads  Description automatically generated">
              <a:extLst>
                <a:ext uri="{FF2B5EF4-FFF2-40B4-BE49-F238E27FC236}">
                  <a16:creationId xmlns:a16="http://schemas.microsoft.com/office/drawing/2014/main" id="{A74A3CF6-B15A-5AC3-3BE7-D8F32E1DF41A}"/>
                </a:ext>
              </a:extLst>
            </p:cNvPr>
            <p:cNvSpPr/>
            <p:nvPr/>
          </p:nvSpPr>
          <p:spPr>
            <a:xfrm>
              <a:off x="0" y="0"/>
              <a:ext cx="2362708" cy="1046861"/>
            </a:xfrm>
            <a:custGeom>
              <a:avLst/>
              <a:gdLst/>
              <a:ahLst/>
              <a:cxnLst/>
              <a:rect l="l" t="t" r="r" b="b"/>
              <a:pathLst>
                <a:path w="2362708" h="1046861">
                  <a:moveTo>
                    <a:pt x="0" y="0"/>
                  </a:moveTo>
                  <a:lnTo>
                    <a:pt x="2362708" y="0"/>
                  </a:lnTo>
                  <a:lnTo>
                    <a:pt x="2362708" y="1046861"/>
                  </a:lnTo>
                  <a:lnTo>
                    <a:pt x="0" y="1046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62" r="1" b="-159"/>
              </a:stretch>
            </a:blipFill>
          </p:spPr>
          <p:txBody>
            <a:bodyPr/>
            <a:lstStyle/>
            <a:p>
              <a:endParaRPr lang="id-ID" sz="933"/>
            </a:p>
          </p:txBody>
        </p:sp>
      </p:grpSp>
      <p:grpSp>
        <p:nvGrpSpPr>
          <p:cNvPr id="5" name="Group 26">
            <a:extLst>
              <a:ext uri="{FF2B5EF4-FFF2-40B4-BE49-F238E27FC236}">
                <a16:creationId xmlns:a16="http://schemas.microsoft.com/office/drawing/2014/main" id="{F91D9F61-C23B-58B1-1F99-F217133DD548}"/>
              </a:ext>
            </a:extLst>
          </p:cNvPr>
          <p:cNvGrpSpPr>
            <a:grpSpLocks noChangeAspect="1"/>
          </p:cNvGrpSpPr>
          <p:nvPr/>
        </p:nvGrpSpPr>
        <p:grpSpPr>
          <a:xfrm>
            <a:off x="787433" y="425612"/>
            <a:ext cx="2502089" cy="351321"/>
            <a:chOff x="0" y="0"/>
            <a:chExt cx="7739614" cy="1086727"/>
          </a:xfrm>
        </p:grpSpPr>
        <p:sp>
          <p:nvSpPr>
            <p:cNvPr id="6" name="Freeform 27">
              <a:extLst>
                <a:ext uri="{FF2B5EF4-FFF2-40B4-BE49-F238E27FC236}">
                  <a16:creationId xmlns:a16="http://schemas.microsoft.com/office/drawing/2014/main" id="{0CAB0573-9C83-9F4D-225F-FCB430ADDB17}"/>
                </a:ext>
              </a:extLst>
            </p:cNvPr>
            <p:cNvSpPr/>
            <p:nvPr/>
          </p:nvSpPr>
          <p:spPr>
            <a:xfrm>
              <a:off x="0" y="0"/>
              <a:ext cx="7739634" cy="1086739"/>
            </a:xfrm>
            <a:custGeom>
              <a:avLst/>
              <a:gdLst/>
              <a:ahLst/>
              <a:cxnLst/>
              <a:rect l="l" t="t" r="r" b="b"/>
              <a:pathLst>
                <a:path w="7739634" h="1086739">
                  <a:moveTo>
                    <a:pt x="0" y="0"/>
                  </a:moveTo>
                  <a:lnTo>
                    <a:pt x="7739634" y="0"/>
                  </a:lnTo>
                  <a:lnTo>
                    <a:pt x="7739634" y="1086739"/>
                  </a:lnTo>
                  <a:lnTo>
                    <a:pt x="0" y="108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286" b="-285"/>
              </a:stretch>
            </a:blipFill>
          </p:spPr>
          <p:txBody>
            <a:bodyPr/>
            <a:lstStyle/>
            <a:p>
              <a:endParaRPr lang="id-ID" sz="933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563624" y="1877805"/>
            <a:ext cx="9064753" cy="1436895"/>
            <a:chOff x="0" y="0"/>
            <a:chExt cx="3581137" cy="56766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581137" cy="567662"/>
            </a:xfrm>
            <a:custGeom>
              <a:avLst/>
              <a:gdLst/>
              <a:ahLst/>
              <a:cxnLst/>
              <a:rect l="l" t="t" r="r" b="b"/>
              <a:pathLst>
                <a:path w="3581137" h="567662">
                  <a:moveTo>
                    <a:pt x="29038" y="0"/>
                  </a:moveTo>
                  <a:lnTo>
                    <a:pt x="3552099" y="0"/>
                  </a:lnTo>
                  <a:cubicBezTo>
                    <a:pt x="3568136" y="0"/>
                    <a:pt x="3581137" y="13001"/>
                    <a:pt x="3581137" y="29038"/>
                  </a:cubicBezTo>
                  <a:lnTo>
                    <a:pt x="3581137" y="538624"/>
                  </a:lnTo>
                  <a:cubicBezTo>
                    <a:pt x="3581137" y="546325"/>
                    <a:pt x="3578077" y="553711"/>
                    <a:pt x="3572632" y="559157"/>
                  </a:cubicBezTo>
                  <a:cubicBezTo>
                    <a:pt x="3567186" y="564603"/>
                    <a:pt x="3559800" y="567662"/>
                    <a:pt x="3552099" y="567662"/>
                  </a:cubicBezTo>
                  <a:lnTo>
                    <a:pt x="29038" y="567662"/>
                  </a:lnTo>
                  <a:cubicBezTo>
                    <a:pt x="21337" y="567662"/>
                    <a:pt x="13951" y="564603"/>
                    <a:pt x="8505" y="559157"/>
                  </a:cubicBezTo>
                  <a:cubicBezTo>
                    <a:pt x="3059" y="553711"/>
                    <a:pt x="0" y="546325"/>
                    <a:pt x="0" y="538624"/>
                  </a:cubicBezTo>
                  <a:lnTo>
                    <a:pt x="0" y="29038"/>
                  </a:lnTo>
                  <a:cubicBezTo>
                    <a:pt x="0" y="21337"/>
                    <a:pt x="3059" y="13951"/>
                    <a:pt x="8505" y="8505"/>
                  </a:cubicBezTo>
                  <a:cubicBezTo>
                    <a:pt x="13951" y="3059"/>
                    <a:pt x="21337" y="0"/>
                    <a:pt x="2903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id-ID" sz="933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8575"/>
              <a:ext cx="3581137" cy="53908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3311"/>
                </a:lnSpc>
              </a:pPr>
              <a:r>
                <a:rPr lang="en-US" sz="3066" b="1">
                  <a:solidFill>
                    <a:srgbClr val="FFFCF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20.000+</a:t>
              </a:r>
            </a:p>
            <a:p>
              <a:pPr algn="ctr">
                <a:lnSpc>
                  <a:spcPts val="1583"/>
                </a:lnSpc>
              </a:pPr>
              <a:r>
                <a:rPr lang="en-US" sz="1466">
                  <a:solidFill>
                    <a:srgbClr val="FFFCF5"/>
                  </a:solidFill>
                </a:rPr>
                <a:t>Total Vlog Views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63624" y="3558144"/>
            <a:ext cx="4397725" cy="820540"/>
            <a:chOff x="0" y="0"/>
            <a:chExt cx="1737373" cy="32416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37373" cy="324164"/>
            </a:xfrm>
            <a:custGeom>
              <a:avLst/>
              <a:gdLst/>
              <a:ahLst/>
              <a:cxnLst/>
              <a:rect l="l" t="t" r="r" b="b"/>
              <a:pathLst>
                <a:path w="1737373" h="324164">
                  <a:moveTo>
                    <a:pt x="59855" y="0"/>
                  </a:moveTo>
                  <a:lnTo>
                    <a:pt x="1677518" y="0"/>
                  </a:lnTo>
                  <a:cubicBezTo>
                    <a:pt x="1693392" y="0"/>
                    <a:pt x="1708617" y="6306"/>
                    <a:pt x="1719842" y="17531"/>
                  </a:cubicBezTo>
                  <a:cubicBezTo>
                    <a:pt x="1731067" y="28756"/>
                    <a:pt x="1737373" y="43980"/>
                    <a:pt x="1737373" y="59855"/>
                  </a:cubicBezTo>
                  <a:lnTo>
                    <a:pt x="1737373" y="264309"/>
                  </a:lnTo>
                  <a:cubicBezTo>
                    <a:pt x="1737373" y="280184"/>
                    <a:pt x="1731067" y="295408"/>
                    <a:pt x="1719842" y="306633"/>
                  </a:cubicBezTo>
                  <a:cubicBezTo>
                    <a:pt x="1708617" y="317858"/>
                    <a:pt x="1693392" y="324164"/>
                    <a:pt x="1677518" y="324164"/>
                  </a:cubicBezTo>
                  <a:lnTo>
                    <a:pt x="59855" y="324164"/>
                  </a:lnTo>
                  <a:cubicBezTo>
                    <a:pt x="43980" y="324164"/>
                    <a:pt x="28756" y="317858"/>
                    <a:pt x="17531" y="306633"/>
                  </a:cubicBezTo>
                  <a:cubicBezTo>
                    <a:pt x="6306" y="295408"/>
                    <a:pt x="0" y="280184"/>
                    <a:pt x="0" y="264309"/>
                  </a:cubicBezTo>
                  <a:lnTo>
                    <a:pt x="0" y="59855"/>
                  </a:lnTo>
                  <a:cubicBezTo>
                    <a:pt x="0" y="43980"/>
                    <a:pt x="6306" y="28756"/>
                    <a:pt x="17531" y="17531"/>
                  </a:cubicBezTo>
                  <a:cubicBezTo>
                    <a:pt x="28756" y="6306"/>
                    <a:pt x="43980" y="0"/>
                    <a:pt x="59855" y="0"/>
                  </a:cubicBez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id-ID" sz="933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1737373" cy="31463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583"/>
                </a:lnSpc>
              </a:pPr>
              <a:r>
                <a:rPr lang="en-US" sz="1466"/>
                <a:t>30.000+ Impressions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63624" y="4619984"/>
            <a:ext cx="4397725" cy="820540"/>
            <a:chOff x="0" y="0"/>
            <a:chExt cx="1737373" cy="3241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37373" cy="324164"/>
            </a:xfrm>
            <a:custGeom>
              <a:avLst/>
              <a:gdLst/>
              <a:ahLst/>
              <a:cxnLst/>
              <a:rect l="l" t="t" r="r" b="b"/>
              <a:pathLst>
                <a:path w="1737373" h="324164">
                  <a:moveTo>
                    <a:pt x="59855" y="0"/>
                  </a:moveTo>
                  <a:lnTo>
                    <a:pt x="1677518" y="0"/>
                  </a:lnTo>
                  <a:cubicBezTo>
                    <a:pt x="1693392" y="0"/>
                    <a:pt x="1708617" y="6306"/>
                    <a:pt x="1719842" y="17531"/>
                  </a:cubicBezTo>
                  <a:cubicBezTo>
                    <a:pt x="1731067" y="28756"/>
                    <a:pt x="1737373" y="43980"/>
                    <a:pt x="1737373" y="59855"/>
                  </a:cubicBezTo>
                  <a:lnTo>
                    <a:pt x="1737373" y="264309"/>
                  </a:lnTo>
                  <a:cubicBezTo>
                    <a:pt x="1737373" y="280184"/>
                    <a:pt x="1731067" y="295408"/>
                    <a:pt x="1719842" y="306633"/>
                  </a:cubicBezTo>
                  <a:cubicBezTo>
                    <a:pt x="1708617" y="317858"/>
                    <a:pt x="1693392" y="324164"/>
                    <a:pt x="1677518" y="324164"/>
                  </a:cubicBezTo>
                  <a:lnTo>
                    <a:pt x="59855" y="324164"/>
                  </a:lnTo>
                  <a:cubicBezTo>
                    <a:pt x="43980" y="324164"/>
                    <a:pt x="28756" y="317858"/>
                    <a:pt x="17531" y="306633"/>
                  </a:cubicBezTo>
                  <a:cubicBezTo>
                    <a:pt x="6306" y="295408"/>
                    <a:pt x="0" y="280184"/>
                    <a:pt x="0" y="264309"/>
                  </a:cubicBezTo>
                  <a:lnTo>
                    <a:pt x="0" y="59855"/>
                  </a:lnTo>
                  <a:cubicBezTo>
                    <a:pt x="0" y="43980"/>
                    <a:pt x="6306" y="28756"/>
                    <a:pt x="17531" y="17531"/>
                  </a:cubicBezTo>
                  <a:cubicBezTo>
                    <a:pt x="28756" y="6306"/>
                    <a:pt x="43980" y="0"/>
                    <a:pt x="59855" y="0"/>
                  </a:cubicBezTo>
                  <a:close/>
                </a:path>
              </a:pathLst>
            </a:custGeom>
            <a:solidFill>
              <a:srgbClr val="FCB715"/>
            </a:solidFill>
          </p:spPr>
          <p:txBody>
            <a:bodyPr/>
            <a:lstStyle/>
            <a:p>
              <a:endParaRPr lang="id-ID" sz="933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1737373" cy="31463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583"/>
                </a:lnSpc>
              </a:pPr>
              <a:r>
                <a:rPr lang="en-US" sz="1466"/>
                <a:t>25 New Followers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230652" y="3558144"/>
            <a:ext cx="4397725" cy="820540"/>
            <a:chOff x="0" y="0"/>
            <a:chExt cx="1737373" cy="32416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37373" cy="324164"/>
            </a:xfrm>
            <a:custGeom>
              <a:avLst/>
              <a:gdLst/>
              <a:ahLst/>
              <a:cxnLst/>
              <a:rect l="l" t="t" r="r" b="b"/>
              <a:pathLst>
                <a:path w="1737373" h="324164">
                  <a:moveTo>
                    <a:pt x="59855" y="0"/>
                  </a:moveTo>
                  <a:lnTo>
                    <a:pt x="1677518" y="0"/>
                  </a:lnTo>
                  <a:cubicBezTo>
                    <a:pt x="1693392" y="0"/>
                    <a:pt x="1708617" y="6306"/>
                    <a:pt x="1719842" y="17531"/>
                  </a:cubicBezTo>
                  <a:cubicBezTo>
                    <a:pt x="1731067" y="28756"/>
                    <a:pt x="1737373" y="43980"/>
                    <a:pt x="1737373" y="59855"/>
                  </a:cubicBezTo>
                  <a:lnTo>
                    <a:pt x="1737373" y="264309"/>
                  </a:lnTo>
                  <a:cubicBezTo>
                    <a:pt x="1737373" y="280184"/>
                    <a:pt x="1731067" y="295408"/>
                    <a:pt x="1719842" y="306633"/>
                  </a:cubicBezTo>
                  <a:cubicBezTo>
                    <a:pt x="1708617" y="317858"/>
                    <a:pt x="1693392" y="324164"/>
                    <a:pt x="1677518" y="324164"/>
                  </a:cubicBezTo>
                  <a:lnTo>
                    <a:pt x="59855" y="324164"/>
                  </a:lnTo>
                  <a:cubicBezTo>
                    <a:pt x="43980" y="324164"/>
                    <a:pt x="28756" y="317858"/>
                    <a:pt x="17531" y="306633"/>
                  </a:cubicBezTo>
                  <a:cubicBezTo>
                    <a:pt x="6306" y="295408"/>
                    <a:pt x="0" y="280184"/>
                    <a:pt x="0" y="264309"/>
                  </a:cubicBezTo>
                  <a:lnTo>
                    <a:pt x="0" y="59855"/>
                  </a:lnTo>
                  <a:cubicBezTo>
                    <a:pt x="0" y="43980"/>
                    <a:pt x="6306" y="28756"/>
                    <a:pt x="17531" y="17531"/>
                  </a:cubicBezTo>
                  <a:cubicBezTo>
                    <a:pt x="28756" y="6306"/>
                    <a:pt x="43980" y="0"/>
                    <a:pt x="59855" y="0"/>
                  </a:cubicBez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id-ID" sz="933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9525"/>
              <a:ext cx="1737373" cy="31463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583"/>
                </a:lnSpc>
              </a:pPr>
              <a:r>
                <a:rPr lang="en-US" sz="1466"/>
                <a:t>133 Profile Visits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230652" y="4619984"/>
            <a:ext cx="4397725" cy="820540"/>
            <a:chOff x="0" y="0"/>
            <a:chExt cx="1737373" cy="32416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37373" cy="324164"/>
            </a:xfrm>
            <a:custGeom>
              <a:avLst/>
              <a:gdLst/>
              <a:ahLst/>
              <a:cxnLst/>
              <a:rect l="l" t="t" r="r" b="b"/>
              <a:pathLst>
                <a:path w="1737373" h="324164">
                  <a:moveTo>
                    <a:pt x="59855" y="0"/>
                  </a:moveTo>
                  <a:lnTo>
                    <a:pt x="1677518" y="0"/>
                  </a:lnTo>
                  <a:cubicBezTo>
                    <a:pt x="1693392" y="0"/>
                    <a:pt x="1708617" y="6306"/>
                    <a:pt x="1719842" y="17531"/>
                  </a:cubicBezTo>
                  <a:cubicBezTo>
                    <a:pt x="1731067" y="28756"/>
                    <a:pt x="1737373" y="43980"/>
                    <a:pt x="1737373" y="59855"/>
                  </a:cubicBezTo>
                  <a:lnTo>
                    <a:pt x="1737373" y="264309"/>
                  </a:lnTo>
                  <a:cubicBezTo>
                    <a:pt x="1737373" y="280184"/>
                    <a:pt x="1731067" y="295408"/>
                    <a:pt x="1719842" y="306633"/>
                  </a:cubicBezTo>
                  <a:cubicBezTo>
                    <a:pt x="1708617" y="317858"/>
                    <a:pt x="1693392" y="324164"/>
                    <a:pt x="1677518" y="324164"/>
                  </a:cubicBezTo>
                  <a:lnTo>
                    <a:pt x="59855" y="324164"/>
                  </a:lnTo>
                  <a:cubicBezTo>
                    <a:pt x="43980" y="324164"/>
                    <a:pt x="28756" y="317858"/>
                    <a:pt x="17531" y="306633"/>
                  </a:cubicBezTo>
                  <a:cubicBezTo>
                    <a:pt x="6306" y="295408"/>
                    <a:pt x="0" y="280184"/>
                    <a:pt x="0" y="264309"/>
                  </a:cubicBezTo>
                  <a:lnTo>
                    <a:pt x="0" y="59855"/>
                  </a:lnTo>
                  <a:cubicBezTo>
                    <a:pt x="0" y="43980"/>
                    <a:pt x="6306" y="28756"/>
                    <a:pt x="17531" y="17531"/>
                  </a:cubicBezTo>
                  <a:cubicBezTo>
                    <a:pt x="28756" y="6306"/>
                    <a:pt x="43980" y="0"/>
                    <a:pt x="59855" y="0"/>
                  </a:cubicBezTo>
                  <a:close/>
                </a:path>
              </a:pathLst>
            </a:custGeom>
            <a:solidFill>
              <a:srgbClr val="FFBE14"/>
            </a:solidFill>
          </p:spPr>
          <p:txBody>
            <a:bodyPr/>
            <a:lstStyle/>
            <a:p>
              <a:endParaRPr lang="id-ID" sz="933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1737373" cy="31463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583"/>
                </a:lnSpc>
              </a:pPr>
              <a:r>
                <a:rPr lang="en-US" sz="1466"/>
                <a:t>IDR 50.000 Total Ad Spend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1913263" y="3701915"/>
            <a:ext cx="496055" cy="496055"/>
          </a:xfrm>
          <a:custGeom>
            <a:avLst/>
            <a:gdLst/>
            <a:ahLst/>
            <a:cxnLst/>
            <a:rect l="l" t="t" r="r" b="b"/>
            <a:pathLst>
              <a:path w="744082" h="744082">
                <a:moveTo>
                  <a:pt x="0" y="0"/>
                </a:moveTo>
                <a:lnTo>
                  <a:pt x="744082" y="0"/>
                </a:lnTo>
                <a:lnTo>
                  <a:pt x="744082" y="744082"/>
                </a:lnTo>
                <a:lnTo>
                  <a:pt x="0" y="744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d-ID" sz="933"/>
          </a:p>
        </p:txBody>
      </p:sp>
      <p:sp>
        <p:nvSpPr>
          <p:cNvPr id="20" name="Freeform 20"/>
          <p:cNvSpPr/>
          <p:nvPr/>
        </p:nvSpPr>
        <p:spPr>
          <a:xfrm>
            <a:off x="1944172" y="4823785"/>
            <a:ext cx="536917" cy="412939"/>
          </a:xfrm>
          <a:custGeom>
            <a:avLst/>
            <a:gdLst/>
            <a:ahLst/>
            <a:cxnLst/>
            <a:rect l="l" t="t" r="r" b="b"/>
            <a:pathLst>
              <a:path w="805376" h="619408">
                <a:moveTo>
                  <a:pt x="0" y="0"/>
                </a:moveTo>
                <a:lnTo>
                  <a:pt x="805377" y="0"/>
                </a:lnTo>
                <a:lnTo>
                  <a:pt x="805377" y="619408"/>
                </a:lnTo>
                <a:lnTo>
                  <a:pt x="0" y="6194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d-ID" sz="933"/>
          </a:p>
        </p:txBody>
      </p:sp>
      <p:sp>
        <p:nvSpPr>
          <p:cNvPr id="21" name="Freeform 21"/>
          <p:cNvSpPr/>
          <p:nvPr/>
        </p:nvSpPr>
        <p:spPr>
          <a:xfrm>
            <a:off x="6540263" y="3708265"/>
            <a:ext cx="545699" cy="545699"/>
          </a:xfrm>
          <a:custGeom>
            <a:avLst/>
            <a:gdLst/>
            <a:ahLst/>
            <a:cxnLst/>
            <a:rect l="l" t="t" r="r" b="b"/>
            <a:pathLst>
              <a:path w="818548" h="818548">
                <a:moveTo>
                  <a:pt x="0" y="0"/>
                </a:moveTo>
                <a:lnTo>
                  <a:pt x="818548" y="0"/>
                </a:lnTo>
                <a:lnTo>
                  <a:pt x="818548" y="818548"/>
                </a:lnTo>
                <a:lnTo>
                  <a:pt x="0" y="8185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d-ID" sz="933"/>
          </a:p>
        </p:txBody>
      </p:sp>
      <p:sp>
        <p:nvSpPr>
          <p:cNvPr id="22" name="Freeform 22"/>
          <p:cNvSpPr/>
          <p:nvPr/>
        </p:nvSpPr>
        <p:spPr>
          <a:xfrm>
            <a:off x="6568947" y="4811085"/>
            <a:ext cx="488331" cy="488331"/>
          </a:xfrm>
          <a:custGeom>
            <a:avLst/>
            <a:gdLst/>
            <a:ahLst/>
            <a:cxnLst/>
            <a:rect l="l" t="t" r="r" b="b"/>
            <a:pathLst>
              <a:path w="732496" h="732496">
                <a:moveTo>
                  <a:pt x="0" y="0"/>
                </a:moveTo>
                <a:lnTo>
                  <a:pt x="732496" y="0"/>
                </a:lnTo>
                <a:lnTo>
                  <a:pt x="732496" y="732496"/>
                </a:lnTo>
                <a:lnTo>
                  <a:pt x="0" y="7324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d-ID" sz="933"/>
          </a:p>
        </p:txBody>
      </p:sp>
      <p:grpSp>
        <p:nvGrpSpPr>
          <p:cNvPr id="23" name="Group 23"/>
          <p:cNvGrpSpPr/>
          <p:nvPr/>
        </p:nvGrpSpPr>
        <p:grpSpPr>
          <a:xfrm>
            <a:off x="3965212" y="5624737"/>
            <a:ext cx="4261577" cy="801965"/>
            <a:chOff x="0" y="0"/>
            <a:chExt cx="1683586" cy="31682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683586" cy="316825"/>
            </a:xfrm>
            <a:custGeom>
              <a:avLst/>
              <a:gdLst/>
              <a:ahLst/>
              <a:cxnLst/>
              <a:rect l="l" t="t" r="r" b="b"/>
              <a:pathLst>
                <a:path w="1683586" h="316825">
                  <a:moveTo>
                    <a:pt x="61767" y="0"/>
                  </a:moveTo>
                  <a:lnTo>
                    <a:pt x="1621819" y="0"/>
                  </a:lnTo>
                  <a:cubicBezTo>
                    <a:pt x="1638201" y="0"/>
                    <a:pt x="1653911" y="6508"/>
                    <a:pt x="1665495" y="18091"/>
                  </a:cubicBezTo>
                  <a:cubicBezTo>
                    <a:pt x="1677078" y="29675"/>
                    <a:pt x="1683586" y="45385"/>
                    <a:pt x="1683586" y="61767"/>
                  </a:cubicBezTo>
                  <a:lnTo>
                    <a:pt x="1683586" y="255058"/>
                  </a:lnTo>
                  <a:cubicBezTo>
                    <a:pt x="1683586" y="289171"/>
                    <a:pt x="1655932" y="316825"/>
                    <a:pt x="1621819" y="316825"/>
                  </a:cubicBezTo>
                  <a:lnTo>
                    <a:pt x="61767" y="316825"/>
                  </a:lnTo>
                  <a:cubicBezTo>
                    <a:pt x="27654" y="316825"/>
                    <a:pt x="0" y="289171"/>
                    <a:pt x="0" y="255058"/>
                  </a:cubicBezTo>
                  <a:lnTo>
                    <a:pt x="0" y="61767"/>
                  </a:lnTo>
                  <a:cubicBezTo>
                    <a:pt x="0" y="27654"/>
                    <a:pt x="27654" y="0"/>
                    <a:pt x="6176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97B2">
                    <a:alpha val="100000"/>
                  </a:srgbClr>
                </a:gs>
                <a:gs pos="100000">
                  <a:srgbClr val="7ED95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id-ID" sz="933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9525"/>
              <a:ext cx="1683586" cy="3073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583"/>
                </a:lnSpc>
              </a:pPr>
              <a:r>
                <a:rPr lang="en-US" sz="1466">
                  <a:solidFill>
                    <a:srgbClr val="FFFCF5"/>
                  </a:solidFill>
                </a:rPr>
                <a:t>IDR 1,400,000 Rewards</a:t>
              </a:r>
            </a:p>
          </p:txBody>
        </p:sp>
      </p:grpSp>
      <p:sp>
        <p:nvSpPr>
          <p:cNvPr id="26" name="Freeform 26"/>
          <p:cNvSpPr/>
          <p:nvPr/>
        </p:nvSpPr>
        <p:spPr>
          <a:xfrm>
            <a:off x="4319565" y="5782652"/>
            <a:ext cx="380732" cy="514503"/>
          </a:xfrm>
          <a:custGeom>
            <a:avLst/>
            <a:gdLst/>
            <a:ahLst/>
            <a:cxnLst/>
            <a:rect l="l" t="t" r="r" b="b"/>
            <a:pathLst>
              <a:path w="571098" h="771754">
                <a:moveTo>
                  <a:pt x="0" y="0"/>
                </a:moveTo>
                <a:lnTo>
                  <a:pt x="571097" y="0"/>
                </a:lnTo>
                <a:lnTo>
                  <a:pt x="571097" y="771754"/>
                </a:lnTo>
                <a:lnTo>
                  <a:pt x="0" y="7717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d-ID" sz="933"/>
          </a:p>
        </p:txBody>
      </p:sp>
      <p:sp>
        <p:nvSpPr>
          <p:cNvPr id="27" name="TextBox 27"/>
          <p:cNvSpPr txBox="1"/>
          <p:nvPr/>
        </p:nvSpPr>
        <p:spPr>
          <a:xfrm>
            <a:off x="3735404" y="560845"/>
            <a:ext cx="4491385" cy="10364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67"/>
              </a:lnSpc>
            </a:pPr>
            <a:r>
              <a:rPr lang="en-US" sz="4667" b="1" dirty="0">
                <a:latin typeface="Arial Bold"/>
                <a:ea typeface="Arial Bold"/>
                <a:cs typeface="Arial Bold"/>
                <a:sym typeface="Arial Bold"/>
              </a:rPr>
              <a:t>Outcome</a:t>
            </a:r>
          </a:p>
          <a:p>
            <a:pPr algn="ctr">
              <a:lnSpc>
                <a:spcPts val="3733"/>
              </a:lnSpc>
            </a:pPr>
            <a:r>
              <a:rPr lang="en-US" sz="2666" b="1" i="1" dirty="0">
                <a:latin typeface="Arial Bold"/>
                <a:ea typeface="Arial Bold"/>
                <a:cs typeface="Arial Bold"/>
                <a:sym typeface="Arial Bold"/>
              </a:rPr>
              <a:t>Digital Outreach Impact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1C320C2D-BE17-7E71-513C-F709A33F1FD5}"/>
              </a:ext>
            </a:extLst>
          </p:cNvPr>
          <p:cNvGrpSpPr>
            <a:grpSpLocks noChangeAspect="1"/>
          </p:cNvGrpSpPr>
          <p:nvPr/>
        </p:nvGrpSpPr>
        <p:grpSpPr>
          <a:xfrm>
            <a:off x="9766097" y="246517"/>
            <a:ext cx="1181336" cy="523413"/>
            <a:chOff x="0" y="0"/>
            <a:chExt cx="2362672" cy="1046826"/>
          </a:xfrm>
        </p:grpSpPr>
        <p:sp>
          <p:nvSpPr>
            <p:cNvPr id="3" name="Freeform 3" descr="A black and green sign with a couple of heads  Description automatically generated">
              <a:extLst>
                <a:ext uri="{FF2B5EF4-FFF2-40B4-BE49-F238E27FC236}">
                  <a16:creationId xmlns:a16="http://schemas.microsoft.com/office/drawing/2014/main" id="{F993EA46-24F1-B110-263D-C992B41D604B}"/>
                </a:ext>
              </a:extLst>
            </p:cNvPr>
            <p:cNvSpPr/>
            <p:nvPr/>
          </p:nvSpPr>
          <p:spPr>
            <a:xfrm>
              <a:off x="0" y="0"/>
              <a:ext cx="2362708" cy="1046861"/>
            </a:xfrm>
            <a:custGeom>
              <a:avLst/>
              <a:gdLst/>
              <a:ahLst/>
              <a:cxnLst/>
              <a:rect l="l" t="t" r="r" b="b"/>
              <a:pathLst>
                <a:path w="2362708" h="1046861">
                  <a:moveTo>
                    <a:pt x="0" y="0"/>
                  </a:moveTo>
                  <a:lnTo>
                    <a:pt x="2362708" y="0"/>
                  </a:lnTo>
                  <a:lnTo>
                    <a:pt x="2362708" y="1046861"/>
                  </a:lnTo>
                  <a:lnTo>
                    <a:pt x="0" y="1046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62" r="1" b="-159"/>
              </a:stretch>
            </a:blipFill>
          </p:spPr>
          <p:txBody>
            <a:bodyPr/>
            <a:lstStyle/>
            <a:p>
              <a:endParaRPr lang="id-ID" sz="933"/>
            </a:p>
          </p:txBody>
        </p:sp>
      </p:grpSp>
      <p:grpSp>
        <p:nvGrpSpPr>
          <p:cNvPr id="28" name="Group 26">
            <a:extLst>
              <a:ext uri="{FF2B5EF4-FFF2-40B4-BE49-F238E27FC236}">
                <a16:creationId xmlns:a16="http://schemas.microsoft.com/office/drawing/2014/main" id="{0FC28A0F-D19C-95F0-707B-492BF265B9B9}"/>
              </a:ext>
            </a:extLst>
          </p:cNvPr>
          <p:cNvGrpSpPr>
            <a:grpSpLocks noChangeAspect="1"/>
          </p:cNvGrpSpPr>
          <p:nvPr/>
        </p:nvGrpSpPr>
        <p:grpSpPr>
          <a:xfrm>
            <a:off x="787433" y="425612"/>
            <a:ext cx="2502089" cy="351321"/>
            <a:chOff x="0" y="0"/>
            <a:chExt cx="7739614" cy="1086727"/>
          </a:xfrm>
        </p:grpSpPr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6745C448-6369-9543-DEA6-7634320DCC87}"/>
                </a:ext>
              </a:extLst>
            </p:cNvPr>
            <p:cNvSpPr/>
            <p:nvPr/>
          </p:nvSpPr>
          <p:spPr>
            <a:xfrm>
              <a:off x="0" y="0"/>
              <a:ext cx="7739634" cy="1086739"/>
            </a:xfrm>
            <a:custGeom>
              <a:avLst/>
              <a:gdLst/>
              <a:ahLst/>
              <a:cxnLst/>
              <a:rect l="l" t="t" r="r" b="b"/>
              <a:pathLst>
                <a:path w="7739634" h="1086739">
                  <a:moveTo>
                    <a:pt x="0" y="0"/>
                  </a:moveTo>
                  <a:lnTo>
                    <a:pt x="7739634" y="0"/>
                  </a:lnTo>
                  <a:lnTo>
                    <a:pt x="7739634" y="1086739"/>
                  </a:lnTo>
                  <a:lnTo>
                    <a:pt x="0" y="108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286" b="-285"/>
              </a:stretch>
            </a:blipFill>
          </p:spPr>
          <p:txBody>
            <a:bodyPr/>
            <a:lstStyle/>
            <a:p>
              <a:endParaRPr lang="id-ID" sz="933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378861" y="2875280"/>
            <a:ext cx="9953171" cy="2064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0609" lvl="1" indent="-230304">
              <a:lnSpc>
                <a:spcPts val="2303"/>
              </a:lnSpc>
              <a:buFont typeface="Arial"/>
              <a:buChar char="•"/>
            </a:pPr>
            <a:r>
              <a:rPr lang="en-US" sz="2133" dirty="0">
                <a:latin typeface="Montserrat"/>
                <a:ea typeface="Montserrat"/>
                <a:cs typeface="Montserrat"/>
                <a:sym typeface="Montserrat"/>
              </a:rPr>
              <a:t>Youth digital engagement (RQ1): improves carbon footprint literacy through interactive learning, workshop and vlog challenge. </a:t>
            </a:r>
          </a:p>
          <a:p>
            <a:pPr>
              <a:lnSpc>
                <a:spcPts val="2303"/>
              </a:lnSpc>
            </a:pPr>
            <a:endParaRPr lang="en-US" sz="2133" dirty="0">
              <a:latin typeface="Montserrat"/>
              <a:ea typeface="Montserrat"/>
              <a:cs typeface="Montserrat"/>
              <a:sym typeface="Montserrat"/>
            </a:endParaRPr>
          </a:p>
          <a:p>
            <a:pPr marL="460609" lvl="1" indent="-230304">
              <a:lnSpc>
                <a:spcPts val="2303"/>
              </a:lnSpc>
              <a:buFont typeface="Arial"/>
              <a:buChar char="•"/>
            </a:pPr>
            <a:r>
              <a:rPr lang="en-US" sz="2133" dirty="0">
                <a:latin typeface="Montserrat"/>
                <a:ea typeface="Montserrat"/>
                <a:cs typeface="Montserrat"/>
                <a:sym typeface="Montserrat"/>
              </a:rPr>
              <a:t>Low-cost digital outreach (RQ2): offers a scalable pathway for community and local governments to integrate climate adaptation communication into development planning.</a:t>
            </a:r>
          </a:p>
          <a:p>
            <a:pPr>
              <a:lnSpc>
                <a:spcPts val="2303"/>
              </a:lnSpc>
              <a:spcBef>
                <a:spcPct val="0"/>
              </a:spcBef>
            </a:pPr>
            <a:endParaRPr lang="en-US" sz="2133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343150" y="5128006"/>
            <a:ext cx="7716169" cy="1236417"/>
            <a:chOff x="0" y="0"/>
            <a:chExt cx="2615497" cy="419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15498" cy="419100"/>
            </a:xfrm>
            <a:custGeom>
              <a:avLst/>
              <a:gdLst/>
              <a:ahLst/>
              <a:cxnLst/>
              <a:rect l="l" t="t" r="r" b="b"/>
              <a:pathLst>
                <a:path w="2615498" h="419100">
                  <a:moveTo>
                    <a:pt x="13064" y="0"/>
                  </a:moveTo>
                  <a:lnTo>
                    <a:pt x="2602433" y="0"/>
                  </a:lnTo>
                  <a:cubicBezTo>
                    <a:pt x="2605898" y="0"/>
                    <a:pt x="2609221" y="1376"/>
                    <a:pt x="2611671" y="3826"/>
                  </a:cubicBezTo>
                  <a:cubicBezTo>
                    <a:pt x="2614121" y="6276"/>
                    <a:pt x="2615498" y="9599"/>
                    <a:pt x="2615498" y="13064"/>
                  </a:cubicBezTo>
                  <a:lnTo>
                    <a:pt x="2615498" y="406036"/>
                  </a:lnTo>
                  <a:cubicBezTo>
                    <a:pt x="2615498" y="409501"/>
                    <a:pt x="2614121" y="412824"/>
                    <a:pt x="2611671" y="415274"/>
                  </a:cubicBezTo>
                  <a:cubicBezTo>
                    <a:pt x="2609221" y="417724"/>
                    <a:pt x="2605898" y="419100"/>
                    <a:pt x="2602433" y="419100"/>
                  </a:cubicBezTo>
                  <a:lnTo>
                    <a:pt x="13064" y="419100"/>
                  </a:lnTo>
                  <a:cubicBezTo>
                    <a:pt x="9599" y="419100"/>
                    <a:pt x="6276" y="417724"/>
                    <a:pt x="3826" y="415274"/>
                  </a:cubicBezTo>
                  <a:cubicBezTo>
                    <a:pt x="1376" y="412824"/>
                    <a:pt x="0" y="409501"/>
                    <a:pt x="0" y="406036"/>
                  </a:cubicBezTo>
                  <a:lnTo>
                    <a:pt x="0" y="13064"/>
                  </a:lnTo>
                  <a:cubicBezTo>
                    <a:pt x="0" y="9599"/>
                    <a:pt x="1376" y="6276"/>
                    <a:pt x="3826" y="3826"/>
                  </a:cubicBezTo>
                  <a:cubicBezTo>
                    <a:pt x="6276" y="1376"/>
                    <a:pt x="9599" y="0"/>
                    <a:pt x="13064" y="0"/>
                  </a:cubicBezTo>
                  <a:close/>
                </a:path>
              </a:pathLst>
            </a:custGeom>
            <a:solidFill>
              <a:srgbClr val="FFBE14"/>
            </a:solidFill>
          </p:spPr>
          <p:txBody>
            <a:bodyPr/>
            <a:lstStyle/>
            <a:p>
              <a:endParaRPr lang="id-ID" sz="933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2615497" cy="4000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512"/>
                </a:lnSpc>
              </a:pPr>
              <a:endParaRPr sz="933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66885" y="5229042"/>
            <a:ext cx="7716169" cy="1236417"/>
            <a:chOff x="0" y="0"/>
            <a:chExt cx="2615497" cy="419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15498" cy="419100"/>
            </a:xfrm>
            <a:custGeom>
              <a:avLst/>
              <a:gdLst/>
              <a:ahLst/>
              <a:cxnLst/>
              <a:rect l="l" t="t" r="r" b="b"/>
              <a:pathLst>
                <a:path w="2615498" h="419100">
                  <a:moveTo>
                    <a:pt x="13064" y="0"/>
                  </a:moveTo>
                  <a:lnTo>
                    <a:pt x="2602433" y="0"/>
                  </a:lnTo>
                  <a:cubicBezTo>
                    <a:pt x="2605898" y="0"/>
                    <a:pt x="2609221" y="1376"/>
                    <a:pt x="2611671" y="3826"/>
                  </a:cubicBezTo>
                  <a:cubicBezTo>
                    <a:pt x="2614121" y="6276"/>
                    <a:pt x="2615498" y="9599"/>
                    <a:pt x="2615498" y="13064"/>
                  </a:cubicBezTo>
                  <a:lnTo>
                    <a:pt x="2615498" y="406036"/>
                  </a:lnTo>
                  <a:cubicBezTo>
                    <a:pt x="2615498" y="409501"/>
                    <a:pt x="2614121" y="412824"/>
                    <a:pt x="2611671" y="415274"/>
                  </a:cubicBezTo>
                  <a:cubicBezTo>
                    <a:pt x="2609221" y="417724"/>
                    <a:pt x="2605898" y="419100"/>
                    <a:pt x="2602433" y="419100"/>
                  </a:cubicBezTo>
                  <a:lnTo>
                    <a:pt x="13064" y="419100"/>
                  </a:lnTo>
                  <a:cubicBezTo>
                    <a:pt x="9599" y="419100"/>
                    <a:pt x="6276" y="417724"/>
                    <a:pt x="3826" y="415274"/>
                  </a:cubicBezTo>
                  <a:cubicBezTo>
                    <a:pt x="1376" y="412824"/>
                    <a:pt x="0" y="409501"/>
                    <a:pt x="0" y="406036"/>
                  </a:cubicBezTo>
                  <a:lnTo>
                    <a:pt x="0" y="13064"/>
                  </a:lnTo>
                  <a:cubicBezTo>
                    <a:pt x="0" y="9599"/>
                    <a:pt x="1376" y="6276"/>
                    <a:pt x="3826" y="3826"/>
                  </a:cubicBezTo>
                  <a:cubicBezTo>
                    <a:pt x="6276" y="1376"/>
                    <a:pt x="9599" y="0"/>
                    <a:pt x="13064" y="0"/>
                  </a:cubicBezTo>
                  <a:close/>
                </a:path>
              </a:pathLst>
            </a:custGeom>
            <a:solidFill>
              <a:srgbClr val="D9FFAA"/>
            </a:solidFill>
          </p:spPr>
          <p:txBody>
            <a:bodyPr/>
            <a:lstStyle/>
            <a:p>
              <a:endParaRPr lang="id-ID" sz="933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9050"/>
              <a:ext cx="2615497" cy="4000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512"/>
                </a:lnSpc>
              </a:pPr>
              <a:endParaRPr sz="933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02392" y="767571"/>
            <a:ext cx="3776008" cy="7131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066"/>
              </a:lnSpc>
            </a:pPr>
            <a:r>
              <a:rPr lang="en-US" sz="4333" b="1" dirty="0">
                <a:latin typeface="Arial Bold"/>
                <a:ea typeface="Arial Bold"/>
                <a:cs typeface="Arial Bold"/>
                <a:sym typeface="Arial Bold"/>
              </a:rPr>
              <a:t>Conclusion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63799" y="5594604"/>
            <a:ext cx="7045752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1"/>
              </a:lnSpc>
              <a:spcBef>
                <a:spcPct val="0"/>
              </a:spcBef>
            </a:pPr>
            <a:r>
              <a:rPr lang="en-US" sz="2066" i="1">
                <a:latin typeface="Arial Italics"/>
                <a:ea typeface="Arial Italics"/>
                <a:cs typeface="Arial Italics"/>
                <a:sym typeface="Arial Italics"/>
              </a:rPr>
              <a:t>“Digital engagement is not just about technology—it's about empowering voices”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66885" y="1491472"/>
            <a:ext cx="10065147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11"/>
              </a:lnSpc>
              <a:spcBef>
                <a:spcPct val="0"/>
              </a:spcBef>
            </a:pPr>
            <a:r>
              <a:rPr lang="en-US" sz="3066" i="1">
                <a:latin typeface="Arial Italics"/>
                <a:ea typeface="Arial Italics"/>
                <a:cs typeface="Arial Italics"/>
                <a:sym typeface="Arial Italics"/>
              </a:rPr>
              <a:t>Youth as pillars of low-cost, scalable digital climate literacy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66885" y="2362200"/>
            <a:ext cx="2746315" cy="4106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47"/>
              </a:lnSpc>
            </a:pPr>
            <a:r>
              <a:rPr lang="en-US" sz="2533" b="1" dirty="0">
                <a:latin typeface="Arial Bold"/>
                <a:ea typeface="Arial Bold"/>
                <a:cs typeface="Arial Bold"/>
                <a:sym typeface="Arial Bold"/>
              </a:rPr>
              <a:t>Key Findings: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80560709-F9FE-166F-5966-5569BD84539B}"/>
              </a:ext>
            </a:extLst>
          </p:cNvPr>
          <p:cNvGrpSpPr>
            <a:grpSpLocks noChangeAspect="1"/>
          </p:cNvGrpSpPr>
          <p:nvPr/>
        </p:nvGrpSpPr>
        <p:grpSpPr>
          <a:xfrm>
            <a:off x="9766097" y="246517"/>
            <a:ext cx="1181336" cy="523413"/>
            <a:chOff x="0" y="0"/>
            <a:chExt cx="2362672" cy="1046826"/>
          </a:xfrm>
        </p:grpSpPr>
        <p:sp>
          <p:nvSpPr>
            <p:cNvPr id="3" name="Freeform 3" descr="A black and green sign with a couple of heads  Description automatically generated">
              <a:extLst>
                <a:ext uri="{FF2B5EF4-FFF2-40B4-BE49-F238E27FC236}">
                  <a16:creationId xmlns:a16="http://schemas.microsoft.com/office/drawing/2014/main" id="{EA62F79C-278E-D80D-BF1E-5DD2BD86C39D}"/>
                </a:ext>
              </a:extLst>
            </p:cNvPr>
            <p:cNvSpPr/>
            <p:nvPr/>
          </p:nvSpPr>
          <p:spPr>
            <a:xfrm>
              <a:off x="0" y="0"/>
              <a:ext cx="2362708" cy="1046861"/>
            </a:xfrm>
            <a:custGeom>
              <a:avLst/>
              <a:gdLst/>
              <a:ahLst/>
              <a:cxnLst/>
              <a:rect l="l" t="t" r="r" b="b"/>
              <a:pathLst>
                <a:path w="2362708" h="1046861">
                  <a:moveTo>
                    <a:pt x="0" y="0"/>
                  </a:moveTo>
                  <a:lnTo>
                    <a:pt x="2362708" y="0"/>
                  </a:lnTo>
                  <a:lnTo>
                    <a:pt x="2362708" y="1046861"/>
                  </a:lnTo>
                  <a:lnTo>
                    <a:pt x="0" y="1046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62" r="1" b="-159"/>
              </a:stretch>
            </a:blipFill>
          </p:spPr>
          <p:txBody>
            <a:bodyPr/>
            <a:lstStyle/>
            <a:p>
              <a:endParaRPr lang="id-ID" sz="933"/>
            </a:p>
          </p:txBody>
        </p:sp>
      </p:grpSp>
      <p:grpSp>
        <p:nvGrpSpPr>
          <p:cNvPr id="15" name="Group 26">
            <a:extLst>
              <a:ext uri="{FF2B5EF4-FFF2-40B4-BE49-F238E27FC236}">
                <a16:creationId xmlns:a16="http://schemas.microsoft.com/office/drawing/2014/main" id="{5B71883A-2360-66FE-1519-BF486AB5BD2E}"/>
              </a:ext>
            </a:extLst>
          </p:cNvPr>
          <p:cNvGrpSpPr>
            <a:grpSpLocks noChangeAspect="1"/>
          </p:cNvGrpSpPr>
          <p:nvPr/>
        </p:nvGrpSpPr>
        <p:grpSpPr>
          <a:xfrm>
            <a:off x="787433" y="425612"/>
            <a:ext cx="2502089" cy="351321"/>
            <a:chOff x="0" y="0"/>
            <a:chExt cx="7739614" cy="1086727"/>
          </a:xfrm>
        </p:grpSpPr>
        <p:sp>
          <p:nvSpPr>
            <p:cNvPr id="16" name="Freeform 27">
              <a:extLst>
                <a:ext uri="{FF2B5EF4-FFF2-40B4-BE49-F238E27FC236}">
                  <a16:creationId xmlns:a16="http://schemas.microsoft.com/office/drawing/2014/main" id="{6DA35798-64B2-FE52-B271-94511E2EABCB}"/>
                </a:ext>
              </a:extLst>
            </p:cNvPr>
            <p:cNvSpPr/>
            <p:nvPr/>
          </p:nvSpPr>
          <p:spPr>
            <a:xfrm>
              <a:off x="0" y="0"/>
              <a:ext cx="7739634" cy="1086739"/>
            </a:xfrm>
            <a:custGeom>
              <a:avLst/>
              <a:gdLst/>
              <a:ahLst/>
              <a:cxnLst/>
              <a:rect l="l" t="t" r="r" b="b"/>
              <a:pathLst>
                <a:path w="7739634" h="1086739">
                  <a:moveTo>
                    <a:pt x="0" y="0"/>
                  </a:moveTo>
                  <a:lnTo>
                    <a:pt x="7739634" y="0"/>
                  </a:lnTo>
                  <a:lnTo>
                    <a:pt x="7739634" y="1086739"/>
                  </a:lnTo>
                  <a:lnTo>
                    <a:pt x="0" y="108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86" b="-285"/>
              </a:stretch>
            </a:blipFill>
          </p:spPr>
          <p:txBody>
            <a:bodyPr/>
            <a:lstStyle/>
            <a:p>
              <a:endParaRPr lang="id-ID" sz="933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266885" y="2233065"/>
            <a:ext cx="2973807" cy="3531579"/>
            <a:chOff x="0" y="0"/>
            <a:chExt cx="5947615" cy="7063157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5947615" cy="7063157"/>
              <a:chOff x="0" y="0"/>
              <a:chExt cx="1620872" cy="192488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620872" cy="1924885"/>
              </a:xfrm>
              <a:custGeom>
                <a:avLst/>
                <a:gdLst/>
                <a:ahLst/>
                <a:cxnLst/>
                <a:rect l="l" t="t" r="r" b="b"/>
                <a:pathLst>
                  <a:path w="1620872" h="1924885">
                    <a:moveTo>
                      <a:pt x="32048" y="0"/>
                    </a:moveTo>
                    <a:lnTo>
                      <a:pt x="1588824" y="0"/>
                    </a:lnTo>
                    <a:cubicBezTo>
                      <a:pt x="1606524" y="0"/>
                      <a:pt x="1620872" y="14348"/>
                      <a:pt x="1620872" y="32048"/>
                    </a:cubicBezTo>
                    <a:lnTo>
                      <a:pt x="1620872" y="1892837"/>
                    </a:lnTo>
                    <a:cubicBezTo>
                      <a:pt x="1620872" y="1910537"/>
                      <a:pt x="1606524" y="1924885"/>
                      <a:pt x="1588824" y="1924885"/>
                    </a:cubicBezTo>
                    <a:lnTo>
                      <a:pt x="32048" y="1924885"/>
                    </a:lnTo>
                    <a:cubicBezTo>
                      <a:pt x="14348" y="1924885"/>
                      <a:pt x="0" y="1910537"/>
                      <a:pt x="0" y="1892837"/>
                    </a:cubicBezTo>
                    <a:lnTo>
                      <a:pt x="0" y="32048"/>
                    </a:lnTo>
                    <a:cubicBezTo>
                      <a:pt x="0" y="14348"/>
                      <a:pt x="14348" y="0"/>
                      <a:pt x="32048" y="0"/>
                    </a:cubicBezTo>
                    <a:close/>
                  </a:path>
                </a:pathLst>
              </a:custGeom>
              <a:solidFill>
                <a:srgbClr val="FFBE14"/>
              </a:solidFill>
            </p:spPr>
            <p:txBody>
              <a:bodyPr/>
              <a:lstStyle/>
              <a:p>
                <a:endParaRPr lang="id-ID" sz="933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19050"/>
                <a:ext cx="1620872" cy="190583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512"/>
                  </a:lnSpc>
                </a:pPr>
                <a:endParaRPr sz="933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166613" y="833578"/>
              <a:ext cx="5616374" cy="6050100"/>
              <a:chOff x="0" y="0"/>
              <a:chExt cx="1786892" cy="192488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786892" cy="1924885"/>
              </a:xfrm>
              <a:custGeom>
                <a:avLst/>
                <a:gdLst/>
                <a:ahLst/>
                <a:cxnLst/>
                <a:rect l="l" t="t" r="r" b="b"/>
                <a:pathLst>
                  <a:path w="1786892" h="1924885">
                    <a:moveTo>
                      <a:pt x="33938" y="0"/>
                    </a:moveTo>
                    <a:lnTo>
                      <a:pt x="1752954" y="0"/>
                    </a:lnTo>
                    <a:cubicBezTo>
                      <a:pt x="1771697" y="0"/>
                      <a:pt x="1786892" y="15195"/>
                      <a:pt x="1786892" y="33938"/>
                    </a:cubicBezTo>
                    <a:lnTo>
                      <a:pt x="1786892" y="1890947"/>
                    </a:lnTo>
                    <a:cubicBezTo>
                      <a:pt x="1786892" y="1909691"/>
                      <a:pt x="1771697" y="1924885"/>
                      <a:pt x="1752954" y="1924885"/>
                    </a:cubicBezTo>
                    <a:lnTo>
                      <a:pt x="33938" y="1924885"/>
                    </a:lnTo>
                    <a:cubicBezTo>
                      <a:pt x="24937" y="1924885"/>
                      <a:pt x="16305" y="1921310"/>
                      <a:pt x="9940" y="1914945"/>
                    </a:cubicBezTo>
                    <a:cubicBezTo>
                      <a:pt x="3576" y="1908580"/>
                      <a:pt x="0" y="1899948"/>
                      <a:pt x="0" y="1890947"/>
                    </a:cubicBezTo>
                    <a:lnTo>
                      <a:pt x="0" y="33938"/>
                    </a:lnTo>
                    <a:cubicBezTo>
                      <a:pt x="0" y="15195"/>
                      <a:pt x="15195" y="0"/>
                      <a:pt x="33938" y="0"/>
                    </a:cubicBezTo>
                    <a:close/>
                  </a:path>
                </a:pathLst>
              </a:custGeom>
              <a:solidFill>
                <a:srgbClr val="FFFCF5"/>
              </a:solidFill>
            </p:spPr>
            <p:txBody>
              <a:bodyPr/>
              <a:lstStyle/>
              <a:p>
                <a:endParaRPr lang="id-ID" sz="933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19050"/>
                <a:ext cx="1786892" cy="190583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512"/>
                  </a:lnSpc>
                </a:pPr>
                <a:endParaRPr sz="933"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4609097" y="2233065"/>
            <a:ext cx="2973807" cy="3531579"/>
            <a:chOff x="0" y="0"/>
            <a:chExt cx="5947615" cy="7063157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5947615" cy="7063157"/>
              <a:chOff x="0" y="0"/>
              <a:chExt cx="1620872" cy="192488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620872" cy="1924885"/>
              </a:xfrm>
              <a:custGeom>
                <a:avLst/>
                <a:gdLst/>
                <a:ahLst/>
                <a:cxnLst/>
                <a:rect l="l" t="t" r="r" b="b"/>
                <a:pathLst>
                  <a:path w="1620872" h="1924885">
                    <a:moveTo>
                      <a:pt x="32048" y="0"/>
                    </a:moveTo>
                    <a:lnTo>
                      <a:pt x="1588824" y="0"/>
                    </a:lnTo>
                    <a:cubicBezTo>
                      <a:pt x="1606524" y="0"/>
                      <a:pt x="1620872" y="14348"/>
                      <a:pt x="1620872" y="32048"/>
                    </a:cubicBezTo>
                    <a:lnTo>
                      <a:pt x="1620872" y="1892837"/>
                    </a:lnTo>
                    <a:cubicBezTo>
                      <a:pt x="1620872" y="1910537"/>
                      <a:pt x="1606524" y="1924885"/>
                      <a:pt x="1588824" y="1924885"/>
                    </a:cubicBezTo>
                    <a:lnTo>
                      <a:pt x="32048" y="1924885"/>
                    </a:lnTo>
                    <a:cubicBezTo>
                      <a:pt x="14348" y="1924885"/>
                      <a:pt x="0" y="1910537"/>
                      <a:pt x="0" y="1892837"/>
                    </a:cubicBezTo>
                    <a:lnTo>
                      <a:pt x="0" y="32048"/>
                    </a:lnTo>
                    <a:cubicBezTo>
                      <a:pt x="0" y="14348"/>
                      <a:pt x="14348" y="0"/>
                      <a:pt x="32048" y="0"/>
                    </a:cubicBezTo>
                    <a:close/>
                  </a:path>
                </a:pathLst>
              </a:custGeom>
              <a:solidFill>
                <a:srgbClr val="4A895A"/>
              </a:solidFill>
            </p:spPr>
            <p:txBody>
              <a:bodyPr/>
              <a:lstStyle/>
              <a:p>
                <a:endParaRPr lang="id-ID" sz="933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19050"/>
                <a:ext cx="1620872" cy="190583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512"/>
                  </a:lnSpc>
                </a:pPr>
                <a:endParaRPr sz="933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66613" y="833578"/>
              <a:ext cx="5616374" cy="6050100"/>
              <a:chOff x="0" y="0"/>
              <a:chExt cx="1786892" cy="192488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786892" cy="1924885"/>
              </a:xfrm>
              <a:custGeom>
                <a:avLst/>
                <a:gdLst/>
                <a:ahLst/>
                <a:cxnLst/>
                <a:rect l="l" t="t" r="r" b="b"/>
                <a:pathLst>
                  <a:path w="1786892" h="1924885">
                    <a:moveTo>
                      <a:pt x="33938" y="0"/>
                    </a:moveTo>
                    <a:lnTo>
                      <a:pt x="1752954" y="0"/>
                    </a:lnTo>
                    <a:cubicBezTo>
                      <a:pt x="1771697" y="0"/>
                      <a:pt x="1786892" y="15195"/>
                      <a:pt x="1786892" y="33938"/>
                    </a:cubicBezTo>
                    <a:lnTo>
                      <a:pt x="1786892" y="1890947"/>
                    </a:lnTo>
                    <a:cubicBezTo>
                      <a:pt x="1786892" y="1909691"/>
                      <a:pt x="1771697" y="1924885"/>
                      <a:pt x="1752954" y="1924885"/>
                    </a:cubicBezTo>
                    <a:lnTo>
                      <a:pt x="33938" y="1924885"/>
                    </a:lnTo>
                    <a:cubicBezTo>
                      <a:pt x="24937" y="1924885"/>
                      <a:pt x="16305" y="1921310"/>
                      <a:pt x="9940" y="1914945"/>
                    </a:cubicBezTo>
                    <a:cubicBezTo>
                      <a:pt x="3576" y="1908580"/>
                      <a:pt x="0" y="1899948"/>
                      <a:pt x="0" y="1890947"/>
                    </a:cubicBezTo>
                    <a:lnTo>
                      <a:pt x="0" y="33938"/>
                    </a:lnTo>
                    <a:cubicBezTo>
                      <a:pt x="0" y="15195"/>
                      <a:pt x="15195" y="0"/>
                      <a:pt x="33938" y="0"/>
                    </a:cubicBezTo>
                    <a:close/>
                  </a:path>
                </a:pathLst>
              </a:custGeom>
              <a:solidFill>
                <a:srgbClr val="FFFCF5"/>
              </a:solidFill>
            </p:spPr>
            <p:txBody>
              <a:bodyPr/>
              <a:lstStyle/>
              <a:p>
                <a:endParaRPr lang="id-ID" sz="933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19050"/>
                <a:ext cx="1786892" cy="190583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512"/>
                  </a:lnSpc>
                </a:pPr>
                <a:endParaRPr sz="933"/>
              </a:p>
            </p:txBody>
          </p:sp>
        </p:grpSp>
      </p:grpSp>
      <p:grpSp>
        <p:nvGrpSpPr>
          <p:cNvPr id="18" name="Group 18"/>
          <p:cNvGrpSpPr/>
          <p:nvPr/>
        </p:nvGrpSpPr>
        <p:grpSpPr>
          <a:xfrm>
            <a:off x="7957554" y="2233065"/>
            <a:ext cx="2973807" cy="3531579"/>
            <a:chOff x="0" y="0"/>
            <a:chExt cx="5947615" cy="7063157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5947615" cy="7063157"/>
              <a:chOff x="0" y="0"/>
              <a:chExt cx="1620872" cy="192488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620872" cy="1924885"/>
              </a:xfrm>
              <a:custGeom>
                <a:avLst/>
                <a:gdLst/>
                <a:ahLst/>
                <a:cxnLst/>
                <a:rect l="l" t="t" r="r" b="b"/>
                <a:pathLst>
                  <a:path w="1620872" h="1924885">
                    <a:moveTo>
                      <a:pt x="32048" y="0"/>
                    </a:moveTo>
                    <a:lnTo>
                      <a:pt x="1588824" y="0"/>
                    </a:lnTo>
                    <a:cubicBezTo>
                      <a:pt x="1606524" y="0"/>
                      <a:pt x="1620872" y="14348"/>
                      <a:pt x="1620872" y="32048"/>
                    </a:cubicBezTo>
                    <a:lnTo>
                      <a:pt x="1620872" y="1892837"/>
                    </a:lnTo>
                    <a:cubicBezTo>
                      <a:pt x="1620872" y="1910537"/>
                      <a:pt x="1606524" y="1924885"/>
                      <a:pt x="1588824" y="1924885"/>
                    </a:cubicBezTo>
                    <a:lnTo>
                      <a:pt x="32048" y="1924885"/>
                    </a:lnTo>
                    <a:cubicBezTo>
                      <a:pt x="14348" y="1924885"/>
                      <a:pt x="0" y="1910537"/>
                      <a:pt x="0" y="1892837"/>
                    </a:cubicBezTo>
                    <a:lnTo>
                      <a:pt x="0" y="32048"/>
                    </a:lnTo>
                    <a:cubicBezTo>
                      <a:pt x="0" y="14348"/>
                      <a:pt x="14348" y="0"/>
                      <a:pt x="32048" y="0"/>
                    </a:cubicBezTo>
                    <a:close/>
                  </a:path>
                </a:pathLst>
              </a:custGeom>
              <a:solidFill>
                <a:srgbClr val="EA1E1E"/>
              </a:solidFill>
            </p:spPr>
            <p:txBody>
              <a:bodyPr/>
              <a:lstStyle/>
              <a:p>
                <a:endParaRPr lang="id-ID" sz="933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19050"/>
                <a:ext cx="1620872" cy="190583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512"/>
                  </a:lnSpc>
                </a:pPr>
                <a:endParaRPr sz="933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66613" y="833578"/>
              <a:ext cx="5616374" cy="6050100"/>
              <a:chOff x="0" y="0"/>
              <a:chExt cx="1786892" cy="192488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786892" cy="1924885"/>
              </a:xfrm>
              <a:custGeom>
                <a:avLst/>
                <a:gdLst/>
                <a:ahLst/>
                <a:cxnLst/>
                <a:rect l="l" t="t" r="r" b="b"/>
                <a:pathLst>
                  <a:path w="1786892" h="1924885">
                    <a:moveTo>
                      <a:pt x="33938" y="0"/>
                    </a:moveTo>
                    <a:lnTo>
                      <a:pt x="1752954" y="0"/>
                    </a:lnTo>
                    <a:cubicBezTo>
                      <a:pt x="1771697" y="0"/>
                      <a:pt x="1786892" y="15195"/>
                      <a:pt x="1786892" y="33938"/>
                    </a:cubicBezTo>
                    <a:lnTo>
                      <a:pt x="1786892" y="1890947"/>
                    </a:lnTo>
                    <a:cubicBezTo>
                      <a:pt x="1786892" y="1909691"/>
                      <a:pt x="1771697" y="1924885"/>
                      <a:pt x="1752954" y="1924885"/>
                    </a:cubicBezTo>
                    <a:lnTo>
                      <a:pt x="33938" y="1924885"/>
                    </a:lnTo>
                    <a:cubicBezTo>
                      <a:pt x="24937" y="1924885"/>
                      <a:pt x="16305" y="1921310"/>
                      <a:pt x="9940" y="1914945"/>
                    </a:cubicBezTo>
                    <a:cubicBezTo>
                      <a:pt x="3576" y="1908580"/>
                      <a:pt x="0" y="1899948"/>
                      <a:pt x="0" y="1890947"/>
                    </a:cubicBezTo>
                    <a:lnTo>
                      <a:pt x="0" y="33938"/>
                    </a:lnTo>
                    <a:cubicBezTo>
                      <a:pt x="0" y="15195"/>
                      <a:pt x="15195" y="0"/>
                      <a:pt x="33938" y="0"/>
                    </a:cubicBezTo>
                    <a:close/>
                  </a:path>
                </a:pathLst>
              </a:custGeom>
              <a:solidFill>
                <a:srgbClr val="FFFCF5"/>
              </a:solidFill>
            </p:spPr>
            <p:txBody>
              <a:bodyPr/>
              <a:lstStyle/>
              <a:p>
                <a:endParaRPr lang="id-ID" sz="933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19050"/>
                <a:ext cx="1786892" cy="190583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512"/>
                  </a:lnSpc>
                </a:pPr>
                <a:endParaRPr sz="933"/>
              </a:p>
            </p:txBody>
          </p:sp>
        </p:grpSp>
      </p:grpSp>
      <p:sp>
        <p:nvSpPr>
          <p:cNvPr id="25" name="Freeform 25"/>
          <p:cNvSpPr/>
          <p:nvPr/>
        </p:nvSpPr>
        <p:spPr>
          <a:xfrm>
            <a:off x="2348965" y="2828170"/>
            <a:ext cx="746146" cy="381213"/>
          </a:xfrm>
          <a:custGeom>
            <a:avLst/>
            <a:gdLst/>
            <a:ahLst/>
            <a:cxnLst/>
            <a:rect l="l" t="t" r="r" b="b"/>
            <a:pathLst>
              <a:path w="1119219" h="571819">
                <a:moveTo>
                  <a:pt x="0" y="0"/>
                </a:moveTo>
                <a:lnTo>
                  <a:pt x="1119220" y="0"/>
                </a:lnTo>
                <a:lnTo>
                  <a:pt x="1119220" y="571820"/>
                </a:lnTo>
                <a:lnTo>
                  <a:pt x="0" y="5718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d-ID" sz="933"/>
          </a:p>
        </p:txBody>
      </p:sp>
      <p:sp>
        <p:nvSpPr>
          <p:cNvPr id="26" name="Freeform 26"/>
          <p:cNvSpPr/>
          <p:nvPr/>
        </p:nvSpPr>
        <p:spPr>
          <a:xfrm>
            <a:off x="5803384" y="2750204"/>
            <a:ext cx="521629" cy="521629"/>
          </a:xfrm>
          <a:custGeom>
            <a:avLst/>
            <a:gdLst/>
            <a:ahLst/>
            <a:cxnLst/>
            <a:rect l="l" t="t" r="r" b="b"/>
            <a:pathLst>
              <a:path w="782444" h="782444">
                <a:moveTo>
                  <a:pt x="0" y="0"/>
                </a:moveTo>
                <a:lnTo>
                  <a:pt x="782444" y="0"/>
                </a:lnTo>
                <a:lnTo>
                  <a:pt x="782444" y="782444"/>
                </a:lnTo>
                <a:lnTo>
                  <a:pt x="0" y="7824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d-ID" sz="933"/>
          </a:p>
        </p:txBody>
      </p:sp>
      <p:sp>
        <p:nvSpPr>
          <p:cNvPr id="27" name="Freeform 27"/>
          <p:cNvSpPr/>
          <p:nvPr/>
        </p:nvSpPr>
        <p:spPr>
          <a:xfrm>
            <a:off x="9207634" y="2785487"/>
            <a:ext cx="486346" cy="486346"/>
          </a:xfrm>
          <a:custGeom>
            <a:avLst/>
            <a:gdLst/>
            <a:ahLst/>
            <a:cxnLst/>
            <a:rect l="l" t="t" r="r" b="b"/>
            <a:pathLst>
              <a:path w="729519" h="729519">
                <a:moveTo>
                  <a:pt x="0" y="0"/>
                </a:moveTo>
                <a:lnTo>
                  <a:pt x="729520" y="0"/>
                </a:lnTo>
                <a:lnTo>
                  <a:pt x="729520" y="729520"/>
                </a:lnTo>
                <a:lnTo>
                  <a:pt x="0" y="729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d-ID" sz="933"/>
          </a:p>
        </p:txBody>
      </p:sp>
      <p:sp>
        <p:nvSpPr>
          <p:cNvPr id="28" name="TextBox 28"/>
          <p:cNvSpPr txBox="1"/>
          <p:nvPr/>
        </p:nvSpPr>
        <p:spPr>
          <a:xfrm>
            <a:off x="948831" y="709560"/>
            <a:ext cx="3609915" cy="7131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66"/>
              </a:lnSpc>
            </a:pPr>
            <a:r>
              <a:rPr lang="en-US" sz="4333" b="1" dirty="0">
                <a:latin typeface="Arial Bold"/>
                <a:ea typeface="Arial Bold"/>
                <a:cs typeface="Arial Bold"/>
                <a:sym typeface="Arial Bold"/>
              </a:rPr>
              <a:t>Conclusion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66885" y="1370052"/>
            <a:ext cx="3433217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11"/>
              </a:lnSpc>
              <a:spcBef>
                <a:spcPct val="0"/>
              </a:spcBef>
            </a:pPr>
            <a:r>
              <a:rPr lang="en-US" sz="3066" i="1" dirty="0">
                <a:latin typeface="Arial Italics"/>
                <a:ea typeface="Arial Italics"/>
                <a:cs typeface="Arial Italics"/>
                <a:sym typeface="Arial Italics"/>
              </a:rPr>
              <a:t>Recommendation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900507" y="3379784"/>
            <a:ext cx="1706563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1"/>
              </a:lnSpc>
              <a:spcBef>
                <a:spcPct val="0"/>
              </a:spcBef>
            </a:pPr>
            <a:r>
              <a:rPr lang="en-US" sz="2066" b="1" i="1">
                <a:latin typeface="Arial Bold Italics"/>
                <a:ea typeface="Arial Bold Italics"/>
                <a:cs typeface="Arial Bold Italics"/>
                <a:sym typeface="Arial Bold Italics"/>
              </a:rPr>
              <a:t>for academia: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42651" y="3728637"/>
            <a:ext cx="2552154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8515" lvl="1" indent="-174257">
              <a:lnSpc>
                <a:spcPts val="1743"/>
              </a:lnSpc>
              <a:buAutoNum type="arabicPeriod"/>
            </a:pPr>
            <a:r>
              <a:rPr lang="en-US" sz="1614" dirty="0"/>
              <a:t>Mainstream youth-centered digital climate learning models</a:t>
            </a:r>
          </a:p>
          <a:p>
            <a:pPr marL="348515" lvl="1" indent="-174257">
              <a:lnSpc>
                <a:spcPts val="1743"/>
              </a:lnSpc>
              <a:buAutoNum type="arabicPeriod"/>
            </a:pPr>
            <a:r>
              <a:rPr lang="en-US" sz="1614" dirty="0"/>
              <a:t>Strengthen climate literacy initiatives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992140" y="3354312"/>
            <a:ext cx="2144117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1"/>
              </a:lnSpc>
              <a:spcBef>
                <a:spcPct val="0"/>
              </a:spcBef>
            </a:pPr>
            <a:r>
              <a:rPr lang="en-US" sz="2066" b="1" i="1">
                <a:latin typeface="Arial Bold Italics"/>
                <a:ea typeface="Arial Bold Italics"/>
                <a:cs typeface="Arial Bold Italics"/>
                <a:sym typeface="Arial Bold Italics"/>
              </a:rPr>
              <a:t>for private sector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700102" y="3728637"/>
            <a:ext cx="2552154" cy="1962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8515" lvl="1" indent="-174257">
              <a:lnSpc>
                <a:spcPts val="1743"/>
              </a:lnSpc>
              <a:buAutoNum type="arabicPeriod"/>
            </a:pPr>
            <a:r>
              <a:rPr lang="en-US" sz="1614" dirty="0"/>
              <a:t>Adopt and include youth as a pillar of digital climate awareness model CSR or ESG</a:t>
            </a:r>
          </a:p>
          <a:p>
            <a:pPr marL="348515" lvl="1" indent="-174257">
              <a:lnSpc>
                <a:spcPts val="1743"/>
              </a:lnSpc>
              <a:buAutoNum type="arabicPeriod"/>
            </a:pPr>
            <a:r>
              <a:rPr lang="en-US" sz="1614" dirty="0"/>
              <a:t>Expand opportunities for green jobs in climate advocacy &amp;  communication roles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488385" y="3379784"/>
            <a:ext cx="1924844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1"/>
              </a:lnSpc>
              <a:spcBef>
                <a:spcPct val="0"/>
              </a:spcBef>
            </a:pPr>
            <a:r>
              <a:rPr lang="en-US" sz="2066" b="1" i="1">
                <a:latin typeface="Arial Bold Italics"/>
                <a:ea typeface="Arial Bold Italics"/>
                <a:cs typeface="Arial Bold Italics"/>
                <a:sym typeface="Arial Bold Italics"/>
              </a:rPr>
              <a:t>for government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098530" y="3754108"/>
            <a:ext cx="2694917" cy="1526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8515" lvl="1" indent="-174257">
              <a:lnSpc>
                <a:spcPts val="1743"/>
              </a:lnSpc>
              <a:buAutoNum type="arabicPeriod"/>
            </a:pPr>
            <a:r>
              <a:rPr lang="en-US" sz="1614" dirty="0"/>
              <a:t>Align RAN-API with replicable low-cost digital engagement model </a:t>
            </a:r>
          </a:p>
          <a:p>
            <a:pPr marL="348515" lvl="1" indent="-174257">
              <a:lnSpc>
                <a:spcPts val="1743"/>
              </a:lnSpc>
              <a:buAutoNum type="arabicPeriod"/>
            </a:pPr>
            <a:r>
              <a:rPr lang="en-US" sz="1614" dirty="0"/>
              <a:t>Build climate resilience through both infrastructure AND social innovation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5FF7C790-70FA-99A0-F997-62B6301E08E8}"/>
              </a:ext>
            </a:extLst>
          </p:cNvPr>
          <p:cNvGrpSpPr>
            <a:grpSpLocks noChangeAspect="1"/>
          </p:cNvGrpSpPr>
          <p:nvPr/>
        </p:nvGrpSpPr>
        <p:grpSpPr>
          <a:xfrm>
            <a:off x="9771128" y="542719"/>
            <a:ext cx="1181336" cy="523413"/>
            <a:chOff x="0" y="0"/>
            <a:chExt cx="2362672" cy="1046826"/>
          </a:xfrm>
        </p:grpSpPr>
        <p:sp>
          <p:nvSpPr>
            <p:cNvPr id="3" name="Freeform 3" descr="A black and green sign with a couple of heads  Description automatically generated">
              <a:extLst>
                <a:ext uri="{FF2B5EF4-FFF2-40B4-BE49-F238E27FC236}">
                  <a16:creationId xmlns:a16="http://schemas.microsoft.com/office/drawing/2014/main" id="{2B022232-22C6-633E-B978-8AA5AF7C91C5}"/>
                </a:ext>
              </a:extLst>
            </p:cNvPr>
            <p:cNvSpPr/>
            <p:nvPr/>
          </p:nvSpPr>
          <p:spPr>
            <a:xfrm>
              <a:off x="0" y="0"/>
              <a:ext cx="2362708" cy="1046861"/>
            </a:xfrm>
            <a:custGeom>
              <a:avLst/>
              <a:gdLst/>
              <a:ahLst/>
              <a:cxnLst/>
              <a:rect l="l" t="t" r="r" b="b"/>
              <a:pathLst>
                <a:path w="2362708" h="1046861">
                  <a:moveTo>
                    <a:pt x="0" y="0"/>
                  </a:moveTo>
                  <a:lnTo>
                    <a:pt x="2362708" y="0"/>
                  </a:lnTo>
                  <a:lnTo>
                    <a:pt x="2362708" y="1046861"/>
                  </a:lnTo>
                  <a:lnTo>
                    <a:pt x="0" y="1046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62" r="1" b="-159"/>
              </a:stretch>
            </a:blipFill>
          </p:spPr>
          <p:txBody>
            <a:bodyPr/>
            <a:lstStyle/>
            <a:p>
              <a:endParaRPr lang="id-ID" sz="933"/>
            </a:p>
          </p:txBody>
        </p:sp>
      </p:grpSp>
      <p:grpSp>
        <p:nvGrpSpPr>
          <p:cNvPr id="36" name="Group 26">
            <a:extLst>
              <a:ext uri="{FF2B5EF4-FFF2-40B4-BE49-F238E27FC236}">
                <a16:creationId xmlns:a16="http://schemas.microsoft.com/office/drawing/2014/main" id="{B996C00E-82A8-B0AE-DC2C-D15D19082932}"/>
              </a:ext>
            </a:extLst>
          </p:cNvPr>
          <p:cNvGrpSpPr>
            <a:grpSpLocks noChangeAspect="1"/>
          </p:cNvGrpSpPr>
          <p:nvPr/>
        </p:nvGrpSpPr>
        <p:grpSpPr>
          <a:xfrm>
            <a:off x="649462" y="6199235"/>
            <a:ext cx="2502089" cy="351321"/>
            <a:chOff x="0" y="0"/>
            <a:chExt cx="7739614" cy="1086727"/>
          </a:xfrm>
        </p:grpSpPr>
        <p:sp>
          <p:nvSpPr>
            <p:cNvPr id="37" name="Freeform 27">
              <a:extLst>
                <a:ext uri="{FF2B5EF4-FFF2-40B4-BE49-F238E27FC236}">
                  <a16:creationId xmlns:a16="http://schemas.microsoft.com/office/drawing/2014/main" id="{19B5EC66-4EA3-1421-AA5A-DE0F9B9B3858}"/>
                </a:ext>
              </a:extLst>
            </p:cNvPr>
            <p:cNvSpPr/>
            <p:nvPr/>
          </p:nvSpPr>
          <p:spPr>
            <a:xfrm>
              <a:off x="0" y="0"/>
              <a:ext cx="7739634" cy="1086739"/>
            </a:xfrm>
            <a:custGeom>
              <a:avLst/>
              <a:gdLst/>
              <a:ahLst/>
              <a:cxnLst/>
              <a:rect l="l" t="t" r="r" b="b"/>
              <a:pathLst>
                <a:path w="7739634" h="1086739">
                  <a:moveTo>
                    <a:pt x="0" y="0"/>
                  </a:moveTo>
                  <a:lnTo>
                    <a:pt x="7739634" y="0"/>
                  </a:lnTo>
                  <a:lnTo>
                    <a:pt x="7739634" y="1086739"/>
                  </a:lnTo>
                  <a:lnTo>
                    <a:pt x="0" y="108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86" b="-285"/>
              </a:stretch>
            </a:blipFill>
          </p:spPr>
          <p:txBody>
            <a:bodyPr/>
            <a:lstStyle/>
            <a:p>
              <a:endParaRPr lang="id-ID" sz="933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41680-4F7A-E9A9-E1F7-5B99026DB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>
            <a:extLst>
              <a:ext uri="{FF2B5EF4-FFF2-40B4-BE49-F238E27FC236}">
                <a16:creationId xmlns:a16="http://schemas.microsoft.com/office/drawing/2014/main" id="{55B18A25-AA61-36D6-F2F3-85BB445144FF}"/>
              </a:ext>
            </a:extLst>
          </p:cNvPr>
          <p:cNvSpPr/>
          <p:nvPr/>
        </p:nvSpPr>
        <p:spPr>
          <a:xfrm>
            <a:off x="6011328" y="343282"/>
            <a:ext cx="5389987" cy="604767"/>
          </a:xfrm>
          <a:custGeom>
            <a:avLst/>
            <a:gdLst/>
            <a:ahLst/>
            <a:cxnLst/>
            <a:rect l="l" t="t" r="r" b="b"/>
            <a:pathLst>
              <a:path w="8084981" h="907151">
                <a:moveTo>
                  <a:pt x="0" y="0"/>
                </a:moveTo>
                <a:lnTo>
                  <a:pt x="8084981" y="0"/>
                </a:lnTo>
                <a:lnTo>
                  <a:pt x="8084981" y="907150"/>
                </a:lnTo>
                <a:lnTo>
                  <a:pt x="0" y="9071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d-ID" sz="933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D889800-9368-04E3-825E-214027C3EA44}"/>
              </a:ext>
            </a:extLst>
          </p:cNvPr>
          <p:cNvSpPr/>
          <p:nvPr/>
        </p:nvSpPr>
        <p:spPr>
          <a:xfrm>
            <a:off x="4557556" y="452477"/>
            <a:ext cx="1474778" cy="385286"/>
          </a:xfrm>
          <a:custGeom>
            <a:avLst/>
            <a:gdLst/>
            <a:ahLst/>
            <a:cxnLst/>
            <a:rect l="l" t="t" r="r" b="b"/>
            <a:pathLst>
              <a:path w="2212167" h="577929">
                <a:moveTo>
                  <a:pt x="0" y="0"/>
                </a:moveTo>
                <a:lnTo>
                  <a:pt x="2212167" y="0"/>
                </a:lnTo>
                <a:lnTo>
                  <a:pt x="2212167" y="577928"/>
                </a:lnTo>
                <a:lnTo>
                  <a:pt x="0" y="577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sz="933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04DE6F2-EFB4-270D-83EC-1A6D73FC6E41}"/>
              </a:ext>
            </a:extLst>
          </p:cNvPr>
          <p:cNvSpPr txBox="1"/>
          <p:nvPr/>
        </p:nvSpPr>
        <p:spPr>
          <a:xfrm>
            <a:off x="3491942" y="2578978"/>
            <a:ext cx="5718671" cy="3744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68"/>
              </a:lnSpc>
              <a:spcBef>
                <a:spcPct val="0"/>
              </a:spcBef>
            </a:pPr>
            <a:r>
              <a:rPr lang="en-US" sz="4970" b="1" dirty="0"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  <a:p>
            <a:pPr algn="ctr">
              <a:lnSpc>
                <a:spcPts val="5368"/>
              </a:lnSpc>
              <a:spcBef>
                <a:spcPct val="0"/>
              </a:spcBef>
            </a:pPr>
            <a:endParaRPr lang="en-US" sz="4970" b="1" dirty="0"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ctr">
              <a:lnSpc>
                <a:spcPts val="5368"/>
              </a:lnSpc>
              <a:spcBef>
                <a:spcPct val="0"/>
              </a:spcBef>
            </a:pPr>
            <a:endParaRPr lang="en-US" sz="4970" b="1" dirty="0"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ctr">
              <a:lnSpc>
                <a:spcPts val="5368"/>
              </a:lnSpc>
              <a:spcBef>
                <a:spcPct val="0"/>
              </a:spcBef>
            </a:pPr>
            <a:endParaRPr lang="en-US" sz="4970" b="1" dirty="0"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ctr">
              <a:lnSpc>
                <a:spcPts val="1912"/>
              </a:lnSpc>
              <a:spcBef>
                <a:spcPct val="0"/>
              </a:spcBef>
            </a:pPr>
            <a:r>
              <a:rPr lang="en-US" sz="177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I Putu Arisgunarta</a:t>
            </a:r>
          </a:p>
          <a:p>
            <a:pPr algn="ctr">
              <a:lnSpc>
                <a:spcPts val="1912"/>
              </a:lnSpc>
              <a:spcBef>
                <a:spcPct val="0"/>
              </a:spcBef>
            </a:pPr>
            <a:r>
              <a:rPr lang="en-US" sz="177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Putuarisgunarta@apps.ipb.ac.id</a:t>
            </a:r>
          </a:p>
          <a:p>
            <a:pPr algn="ctr">
              <a:lnSpc>
                <a:spcPts val="1912"/>
              </a:lnSpc>
              <a:spcBef>
                <a:spcPct val="0"/>
              </a:spcBef>
            </a:pPr>
            <a:r>
              <a:rPr lang="en-US" sz="177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MyCarbonSteps</a:t>
            </a:r>
            <a:r>
              <a:rPr lang="en-US" sz="177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 | IPB University</a:t>
            </a:r>
          </a:p>
          <a:p>
            <a:pPr algn="ctr">
              <a:lnSpc>
                <a:spcPts val="1912"/>
              </a:lnSpc>
              <a:spcBef>
                <a:spcPct val="0"/>
              </a:spcBef>
            </a:pPr>
            <a:r>
              <a:rPr lang="en-US" sz="177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#CarbonVlogger #ClimateResilience #YouthAction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5564C9-53B8-2CE0-10A5-75E725A4EDBF}"/>
              </a:ext>
            </a:extLst>
          </p:cNvPr>
          <p:cNvSpPr txBox="1"/>
          <p:nvPr/>
        </p:nvSpPr>
        <p:spPr>
          <a:xfrm>
            <a:off x="2554674" y="3250957"/>
            <a:ext cx="75932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id-ID" dirty="0">
                <a:solidFill>
                  <a:schemeClr val="bg1">
                    <a:lumMod val="85000"/>
                  </a:schemeClr>
                </a:solidFill>
              </a:rPr>
              <a:t>Take-home Message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algn="ctr">
              <a:buNone/>
            </a:pPr>
            <a:endParaRPr lang="id-ID" dirty="0"/>
          </a:p>
          <a:p>
            <a:pPr algn="ctr">
              <a:buNone/>
            </a:pPr>
            <a:r>
              <a:rPr lang="id-ID" i="1" dirty="0"/>
              <a:t>"Empowering youth through digital storytelling transforms climate literacy into scalable climate resilience."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22B07556-BB4D-244E-692D-C266BE70CDCE}"/>
              </a:ext>
            </a:extLst>
          </p:cNvPr>
          <p:cNvGrpSpPr>
            <a:grpSpLocks noChangeAspect="1"/>
          </p:cNvGrpSpPr>
          <p:nvPr/>
        </p:nvGrpSpPr>
        <p:grpSpPr>
          <a:xfrm>
            <a:off x="3072537" y="343282"/>
            <a:ext cx="1152000" cy="510415"/>
            <a:chOff x="0" y="0"/>
            <a:chExt cx="2362672" cy="1046826"/>
          </a:xfrm>
        </p:grpSpPr>
        <p:sp>
          <p:nvSpPr>
            <p:cNvPr id="3" name="Freeform 3" descr="A black and green sign with a couple of heads  Description automatically generated">
              <a:extLst>
                <a:ext uri="{FF2B5EF4-FFF2-40B4-BE49-F238E27FC236}">
                  <a16:creationId xmlns:a16="http://schemas.microsoft.com/office/drawing/2014/main" id="{A407E546-7214-796D-4DB9-D9A18DCE60D8}"/>
                </a:ext>
              </a:extLst>
            </p:cNvPr>
            <p:cNvSpPr/>
            <p:nvPr/>
          </p:nvSpPr>
          <p:spPr>
            <a:xfrm>
              <a:off x="0" y="0"/>
              <a:ext cx="2362708" cy="1046861"/>
            </a:xfrm>
            <a:custGeom>
              <a:avLst/>
              <a:gdLst/>
              <a:ahLst/>
              <a:cxnLst/>
              <a:rect l="l" t="t" r="r" b="b"/>
              <a:pathLst>
                <a:path w="2362708" h="1046861">
                  <a:moveTo>
                    <a:pt x="0" y="0"/>
                  </a:moveTo>
                  <a:lnTo>
                    <a:pt x="2362708" y="0"/>
                  </a:lnTo>
                  <a:lnTo>
                    <a:pt x="2362708" y="1046861"/>
                  </a:lnTo>
                  <a:lnTo>
                    <a:pt x="0" y="1046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62" r="1" b="-159"/>
              </a:stretch>
            </a:blipFill>
          </p:spPr>
          <p:txBody>
            <a:bodyPr/>
            <a:lstStyle/>
            <a:p>
              <a:endParaRPr lang="id-ID" sz="933"/>
            </a:p>
          </p:txBody>
        </p:sp>
      </p:grpSp>
      <p:grpSp>
        <p:nvGrpSpPr>
          <p:cNvPr id="4" name="Group 26">
            <a:extLst>
              <a:ext uri="{FF2B5EF4-FFF2-40B4-BE49-F238E27FC236}">
                <a16:creationId xmlns:a16="http://schemas.microsoft.com/office/drawing/2014/main" id="{75B66D6A-27BB-63B7-2E01-147391AD411C}"/>
              </a:ext>
            </a:extLst>
          </p:cNvPr>
          <p:cNvGrpSpPr>
            <a:grpSpLocks noChangeAspect="1"/>
          </p:cNvGrpSpPr>
          <p:nvPr/>
        </p:nvGrpSpPr>
        <p:grpSpPr>
          <a:xfrm>
            <a:off x="340517" y="478133"/>
            <a:ext cx="2502089" cy="351321"/>
            <a:chOff x="0" y="0"/>
            <a:chExt cx="7739614" cy="1086727"/>
          </a:xfrm>
        </p:grpSpPr>
        <p:sp>
          <p:nvSpPr>
            <p:cNvPr id="5" name="Freeform 27">
              <a:extLst>
                <a:ext uri="{FF2B5EF4-FFF2-40B4-BE49-F238E27FC236}">
                  <a16:creationId xmlns:a16="http://schemas.microsoft.com/office/drawing/2014/main" id="{22ACBA4A-B9A8-13B2-04C0-618DB55E0EE9}"/>
                </a:ext>
              </a:extLst>
            </p:cNvPr>
            <p:cNvSpPr/>
            <p:nvPr/>
          </p:nvSpPr>
          <p:spPr>
            <a:xfrm>
              <a:off x="0" y="0"/>
              <a:ext cx="7739634" cy="1086739"/>
            </a:xfrm>
            <a:custGeom>
              <a:avLst/>
              <a:gdLst/>
              <a:ahLst/>
              <a:cxnLst/>
              <a:rect l="l" t="t" r="r" b="b"/>
              <a:pathLst>
                <a:path w="7739634" h="1086739">
                  <a:moveTo>
                    <a:pt x="0" y="0"/>
                  </a:moveTo>
                  <a:lnTo>
                    <a:pt x="7739634" y="0"/>
                  </a:lnTo>
                  <a:lnTo>
                    <a:pt x="7739634" y="1086739"/>
                  </a:lnTo>
                  <a:lnTo>
                    <a:pt x="0" y="108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86" b="-285"/>
              </a:stretch>
            </a:blipFill>
          </p:spPr>
          <p:txBody>
            <a:bodyPr/>
            <a:lstStyle/>
            <a:p>
              <a:endParaRPr lang="id-ID" sz="933"/>
            </a:p>
          </p:txBody>
        </p:sp>
      </p:grpSp>
    </p:spTree>
    <p:extLst>
      <p:ext uri="{BB962C8B-B14F-4D97-AF65-F5344CB8AC3E}">
        <p14:creationId xmlns:p14="http://schemas.microsoft.com/office/powerpoint/2010/main" val="3510190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97F113-E749-AA1F-7F7A-FCC04F9F68C8}"/>
              </a:ext>
            </a:extLst>
          </p:cNvPr>
          <p:cNvSpPr txBox="1"/>
          <p:nvPr/>
        </p:nvSpPr>
        <p:spPr>
          <a:xfrm>
            <a:off x="807474" y="1198883"/>
            <a:ext cx="1107972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d-ID" sz="1400" b="1" dirty="0"/>
              <a:t>Resch, A. M., Springer, M. G., &amp; Walters, K. (2018).</a:t>
            </a:r>
            <a:r>
              <a:rPr lang="id-ID" sz="1400" dirty="0"/>
              <a:t> How do test scores at the ceiling affect value-added estimation? </a:t>
            </a:r>
            <a:r>
              <a:rPr lang="id-ID" sz="1400" i="1" dirty="0"/>
              <a:t>Journal of Research on Educational Effectiveness, 11</a:t>
            </a:r>
            <a:r>
              <a:rPr lang="id-ID" sz="1400" dirty="0"/>
              <a:t>(4), 580–602. https://doi.org/10.1080/19345747.2018.1460226</a:t>
            </a:r>
          </a:p>
          <a:p>
            <a:pPr>
              <a:buNone/>
            </a:pPr>
            <a:r>
              <a:rPr lang="id-ID" sz="1400" b="1" dirty="0"/>
              <a:t>Staus, N. L., O'Connell, K., &amp; Storksdieck, M. (2021).</a:t>
            </a:r>
            <a:r>
              <a:rPr lang="id-ID" sz="1400" dirty="0"/>
              <a:t> Addressing the ceiling effect when assessing STEM out-of-school time experiences. </a:t>
            </a:r>
            <a:r>
              <a:rPr lang="id-ID" sz="1400" i="1" dirty="0"/>
              <a:t>Frontiers in Education, 6</a:t>
            </a:r>
            <a:r>
              <a:rPr lang="id-ID" sz="1400" dirty="0"/>
              <a:t>, Article 690431. https://doi.org/10.3389/feduc.2021.690431</a:t>
            </a:r>
          </a:p>
          <a:p>
            <a:pPr>
              <a:buNone/>
            </a:pPr>
            <a:r>
              <a:rPr lang="id-ID" sz="1400" b="1" dirty="0"/>
              <a:t>Wang, L., Zhang, Z., McArdle, J. J., &amp; Salthouse, T. A. (2009).</a:t>
            </a:r>
            <a:r>
              <a:rPr lang="id-ID" sz="1400" dirty="0"/>
              <a:t> Investigating ceiling effects in longitudinal data analysis. </a:t>
            </a:r>
            <a:r>
              <a:rPr lang="id-ID" sz="1400" i="1" dirty="0"/>
              <a:t>Multivariate Behavioral Research, 44</a:t>
            </a:r>
            <a:r>
              <a:rPr lang="id-ID" sz="1400" dirty="0"/>
              <a:t>(4), 476–496. https://doi.org/10.1080/00273170903103362</a:t>
            </a:r>
          </a:p>
        </p:txBody>
      </p:sp>
    </p:spTree>
    <p:extLst>
      <p:ext uri="{BB962C8B-B14F-4D97-AF65-F5344CB8AC3E}">
        <p14:creationId xmlns:p14="http://schemas.microsoft.com/office/powerpoint/2010/main" val="1041699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1071</Words>
  <Application>Microsoft Office PowerPoint</Application>
  <PresentationFormat>Widescreen</PresentationFormat>
  <Paragraphs>136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7" baseType="lpstr">
      <vt:lpstr>Aptos</vt:lpstr>
      <vt:lpstr>Aptos Display</vt:lpstr>
      <vt:lpstr>Arial</vt:lpstr>
      <vt:lpstr>Arial Bold</vt:lpstr>
      <vt:lpstr>Arial Bold Italics</vt:lpstr>
      <vt:lpstr>Arial Italics</vt:lpstr>
      <vt:lpstr>Calibri</vt:lpstr>
      <vt:lpstr>Cambria Math</vt:lpstr>
      <vt:lpstr>Montserrat</vt:lpstr>
      <vt:lpstr>Montserrat Bold</vt:lpstr>
      <vt:lpstr>Montserrat Bold Italics</vt:lpstr>
      <vt:lpstr>Tahoma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 Putu Arisgunarta</dc:creator>
  <cp:lastModifiedBy>I Putu Arisgunarta</cp:lastModifiedBy>
  <cp:revision>4</cp:revision>
  <dcterms:created xsi:type="dcterms:W3CDTF">2026-06-26T17:28:56Z</dcterms:created>
  <dcterms:modified xsi:type="dcterms:W3CDTF">2026-08-25T07:56:20Z</dcterms:modified>
</cp:coreProperties>
</file>